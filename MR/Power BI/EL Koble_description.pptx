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9" r:id="rId5"/>
  </p:sldMasterIdLst>
  <p:notesMasterIdLst>
    <p:notesMasterId r:id="rId16"/>
  </p:notesMasterIdLst>
  <p:sldIdLst>
    <p:sldId id="263" r:id="rId6"/>
    <p:sldId id="262" r:id="rId7"/>
    <p:sldId id="266" r:id="rId8"/>
    <p:sldId id="264" r:id="rId9"/>
    <p:sldId id="267" r:id="rId10"/>
    <p:sldId id="265" r:id="rId11"/>
    <p:sldId id="259" r:id="rId12"/>
    <p:sldId id="258" r:id="rId13"/>
    <p:sldId id="260" r:id="rId14"/>
    <p:sldId id="261" r:id="rId15"/>
  </p:sldIdLst>
  <p:sldSz cx="9144000" cy="5143500" type="screen16x9"/>
  <p:notesSz cx="7099300" cy="10234613"/>
  <p:defaultTextStyle>
    <a:defPPr>
      <a:defRPr lang="x-non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29" autoAdjust="0"/>
    <p:restoredTop sz="94660"/>
  </p:normalViewPr>
  <p:slideViewPr>
    <p:cSldViewPr snapToGrid="0">
      <p:cViewPr varScale="1">
        <p:scale>
          <a:sx n="89" d="100"/>
          <a:sy n="89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345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2C368-FB59-410C-A43D-6C6FB5CCD1E8}" type="datetimeFigureOut">
              <a:rPr lang="en-GB" smtClean="0"/>
              <a:t>25/03/2019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6E336-8755-4B41-82F3-05D4DBA6CB1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930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2556000"/>
          </a:xfrm>
          <a:solidFill>
            <a:schemeClr val="tx2"/>
          </a:solidFill>
        </p:spPr>
        <p:txBody>
          <a:bodyPr tIns="720000" anchor="t" anchorCtr="1"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To insert a cover picture, click on the icon in the middle.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6000" y="2862000"/>
            <a:ext cx="6318000" cy="774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400" cap="none" baseline="0"/>
            </a:lvl1pPr>
          </a:lstStyle>
          <a:p>
            <a:r>
              <a:rPr lang="en-GB" dirty="0"/>
              <a:t>Title 24 pt, two lines max.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6000" y="4230000"/>
            <a:ext cx="6318000" cy="648000"/>
          </a:xfrm>
        </p:spPr>
        <p:txBody>
          <a:bodyPr anchor="b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lvl1pPr>
          </a:lstStyle>
          <a:p>
            <a:r>
              <a:rPr lang="en-GB" dirty="0"/>
              <a:t>Date: DD/MM/YYYY</a:t>
            </a:r>
            <a:br>
              <a:rPr lang="en-GB" dirty="0"/>
            </a:br>
            <a:r>
              <a:rPr lang="en-GB" dirty="0"/>
              <a:t>Name of speaker</a:t>
            </a:r>
          </a:p>
        </p:txBody>
      </p:sp>
      <p:sp>
        <p:nvSpPr>
          <p:cNvPr id="7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768000" y="2340000"/>
            <a:ext cx="2376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  <p:pic>
        <p:nvPicPr>
          <p:cNvPr id="14" name="Grafik 13" descr="Logo_Munich Re_42mm_RGB.e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200" y="4489200"/>
            <a:ext cx="1521000" cy="354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7560000 w 9144000"/>
              <a:gd name="connsiteY3" fmla="*/ 5143500 h 5143500"/>
              <a:gd name="connsiteX4" fmla="*/ 7560000 w 9144000"/>
              <a:gd name="connsiteY4" fmla="*/ 2565900 h 5143500"/>
              <a:gd name="connsiteX5" fmla="*/ 0 w 9144000"/>
              <a:gd name="connsiteY5" fmla="*/ 25659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7560000" y="5143500"/>
                </a:lnTo>
                <a:lnTo>
                  <a:pt x="7560000" y="2565900"/>
                </a:lnTo>
                <a:lnTo>
                  <a:pt x="0" y="25659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980000" anchor="t" anchorCtr="1">
            <a:noAutofit/>
          </a:bodyPr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To insert a cover picture, click on the icon in the middle.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6000" y="2862000"/>
            <a:ext cx="4716000" cy="774000"/>
          </a:xfrm>
          <a:noFill/>
        </p:spPr>
        <p:txBody>
          <a:bodyPr lIns="0" rIns="0" bIns="0" anchor="b">
            <a:noAutofit/>
          </a:bodyPr>
          <a:lstStyle>
            <a:lvl1pPr>
              <a:lnSpc>
                <a:spcPct val="100000"/>
              </a:lnSpc>
              <a:defRPr sz="2400" cap="none" baseline="0"/>
            </a:lvl1pPr>
          </a:lstStyle>
          <a:p>
            <a:r>
              <a:rPr lang="en-GB" dirty="0"/>
              <a:t>Title 24 pt, two lines max.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6000" y="4230000"/>
            <a:ext cx="4716000" cy="648000"/>
          </a:xfrm>
        </p:spPr>
        <p:txBody>
          <a:bodyPr anchor="b" anchorCtr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Date: DD/MM/YYYY</a:t>
            </a:r>
            <a:br>
              <a:rPr lang="en-GB" dirty="0"/>
            </a:br>
            <a:r>
              <a:rPr lang="en-GB" dirty="0"/>
              <a:t>Name of speaker</a:t>
            </a:r>
          </a:p>
        </p:txBody>
      </p:sp>
      <p:sp>
        <p:nvSpPr>
          <p:cNvPr id="9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5181543" y="2355750"/>
            <a:ext cx="2376000" cy="216000"/>
          </a:xfrm>
        </p:spPr>
        <p:txBody>
          <a:bodyPr wrap="none" tIns="72000" rIns="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  <p:pic>
        <p:nvPicPr>
          <p:cNvPr id="14" name="Grafik 13" descr="Logo_Munich Re_42mm_RGB.e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000" y="4489200"/>
            <a:ext cx="1521000" cy="354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GB" dirty="0"/>
              <a:t>Title 20 pt, two lines max. for Agenda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50000" indent="-450000">
              <a:spcAft>
                <a:spcPts val="900"/>
              </a:spcAft>
              <a:buClr>
                <a:schemeClr val="accent1"/>
              </a:buClr>
              <a:buSzPct val="145000"/>
              <a:buAutoNum type="arabicPeriod"/>
              <a:defRPr/>
            </a:lvl1pPr>
            <a:lvl2pPr marL="720000">
              <a:defRPr/>
            </a:lvl2pPr>
            <a:lvl3pPr marL="990000">
              <a:defRPr/>
            </a:lvl3pPr>
            <a:lvl4pPr marL="1260000">
              <a:defRPr/>
            </a:lvl4pPr>
            <a:lvl5pPr marL="1530000">
              <a:defRPr/>
            </a:lvl5pPr>
            <a:lvl6pPr marL="1800000">
              <a:defRPr/>
            </a:lvl6pPr>
            <a:lvl7pPr marL="2070000">
              <a:defRPr/>
            </a:lvl7pPr>
            <a:lvl8pPr marL="2340000">
              <a:defRPr baseline="0"/>
            </a:lvl8pPr>
            <a:lvl9pPr marL="2610000">
              <a:defRPr baseline="0"/>
            </a:lvl9pPr>
          </a:lstStyle>
          <a:p>
            <a:pPr lvl="0"/>
            <a:r>
              <a:rPr lang="en-GB" dirty="0"/>
              <a:t>To customise the points hierarchy, use Start &gt; Paragraph &gt; Decrease/Increase List Level. Alternatively, insert table, chart, SmartArt graphic, picture or online graphic.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3437-A217-401D-8115-1684ECC2BBD6}" type="datetime4">
              <a:rPr lang="en-GB" noProof="0" smtClean="0"/>
              <a:t>25 March 2019</a:t>
            </a:fld>
            <a:endParaRPr lang="en-GB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noProof="0"/>
              <a:t>MR Elements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 20 pt, two lines max. and bulleted list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dirty="0"/>
              <a:t>To customise the points hierarchy, use Start &gt; Paragraph &gt; Decrease/Increase List Level. Alternatively, insert table, chart, SmartArt graphic, picture or online graphic.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5876-D78E-49FA-8101-4C74F187E344}" type="datetime4">
              <a:rPr lang="en-GB" noProof="0" smtClean="0"/>
              <a:t>25 March 2019</a:t>
            </a:fld>
            <a:endParaRPr lang="en-GB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noProof="0"/>
              <a:t>MR Elements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Title 20 pt, two lines max. and numbering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AutoNum type="arabicPeriod"/>
              <a:defRPr/>
            </a:lvl1pPr>
          </a:lstStyle>
          <a:p>
            <a:pPr lvl="0"/>
            <a:r>
              <a:rPr lang="en-GB" dirty="0"/>
              <a:t>To customise the points hierarchy, use Start &gt; Paragraph &gt; Decrease/Increase List Level. Alternatively, insert table, chart, SmartArt graphic, picture or online graphic.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5966B-FF3B-44FD-B928-E9BC95C8DDEF}" type="datetime4">
              <a:rPr lang="en-GB" noProof="0" smtClean="0"/>
              <a:t>25 March 2019</a:t>
            </a:fld>
            <a:endParaRPr lang="en-GB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noProof="0"/>
              <a:t>MR Elements</a:t>
            </a:r>
          </a:p>
        </p:txBody>
      </p:sp>
    </p:spTree>
    <p:extLst>
      <p:ext uri="{BB962C8B-B14F-4D97-AF65-F5344CB8AC3E}">
        <p14:creationId xmlns:p14="http://schemas.microsoft.com/office/powerpoint/2010/main" val="361029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/>
            </a:lvl1pPr>
            <a:lvl2pPr marL="270000" indent="0">
              <a:buNone/>
            </a:lvl2pPr>
            <a:lvl3pPr marL="540000" indent="0">
              <a:buNone/>
            </a:lvl3pPr>
            <a:lvl4pPr marL="810000" indent="0">
              <a:buNone/>
            </a:lvl4pPr>
            <a:lvl5pPr marL="1080000" indent="0">
              <a:buNone/>
            </a:lvl5pPr>
            <a:lvl6pPr marL="1350000" indent="0">
              <a:buNone/>
            </a:lvl6pPr>
            <a:lvl7pPr marL="1620000" indent="0">
              <a:buNone/>
            </a:lvl7pPr>
            <a:lvl8pPr marL="1890000" indent="0">
              <a:buNone/>
            </a:lvl8pPr>
            <a:lvl9pPr marL="2160000" indent="0">
              <a:buNone/>
            </a:lvl9pPr>
          </a:lstStyle>
          <a:p>
            <a:pPr lvl="0"/>
            <a:r>
              <a:rPr lang="en-GB" dirty="0"/>
              <a:t>To customise the points hierarchy, use Start &gt; Paragraph &gt; Decrease/Increase List Level. Alternatively, insert table, chart, SmartArt graphic, picture or online graphic.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 20 pt, two lines max. and text</a:t>
            </a:r>
            <a:endParaRPr lang="en-GB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19838-33A4-484C-8A99-E7D330CDC5D3}" type="datetime4">
              <a:rPr lang="en-GB" noProof="0" smtClean="0"/>
              <a:t>25 March 2019</a:t>
            </a:fld>
            <a:endParaRPr lang="en-GB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noProof="0"/>
              <a:t>MR Elements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06000"/>
            <a:ext cx="8532000" cy="3240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Heading 16 pt, single line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79EF7EC-4EE0-42CF-9F7F-6F7DADB85F0B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16" name="Titel 1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 20 pt, two lines max. and chart</a:t>
            </a:r>
          </a:p>
        </p:txBody>
      </p:sp>
      <p:sp>
        <p:nvSpPr>
          <p:cNvPr id="18" name="Diagrammplatzhalter 17"/>
          <p:cNvSpPr>
            <a:spLocks noGrp="1"/>
          </p:cNvSpPr>
          <p:nvPr>
            <p:ph type="chart" sz="quarter" idx="15" hasCustomPrompt="1"/>
          </p:nvPr>
        </p:nvSpPr>
        <p:spPr>
          <a:xfrm>
            <a:off x="306000" y="1530000"/>
            <a:ext cx="8532000" cy="3304800"/>
          </a:xfrm>
          <a:noFill/>
        </p:spPr>
        <p:txBody>
          <a:bodyPr/>
          <a:lstStyle>
            <a:lvl1pPr marL="0" indent="0">
              <a:buNone/>
            </a:lvl1pPr>
          </a:lstStyle>
          <a:p>
            <a:r>
              <a:rPr lang="en-GB" dirty="0"/>
              <a:t>To insert a chart, click on the icon in the middle.</a:t>
            </a:r>
            <a:br>
              <a:rPr lang="en-GB" dirty="0"/>
            </a:br>
            <a:r>
              <a:rPr lang="en-GB" dirty="0"/>
              <a:t>Changing chart colours: Click on Chart in the ribbon bar, then Chart Tools &gt; Design &gt; Change Colors (Quick Colours for Charts). Under Monochromatic, select Colour 5 or 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20 pt, two lines max. and table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18E108A-4D16-4FB5-9FD5-4DEA7588B186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12" name="Tabellenplatzhalter 11"/>
          <p:cNvSpPr>
            <a:spLocks noGrp="1"/>
          </p:cNvSpPr>
          <p:nvPr>
            <p:ph type="tbl" sz="quarter" idx="19" hasCustomPrompt="1"/>
          </p:nvPr>
        </p:nvSpPr>
        <p:spPr>
          <a:xfrm>
            <a:off x="306000" y="1205138"/>
            <a:ext cx="8532000" cy="3628800"/>
          </a:xfrm>
        </p:spPr>
        <p:txBody>
          <a:bodyPr/>
          <a:lstStyle>
            <a:lvl1pPr marL="0" indent="0">
              <a:buFontTx/>
              <a:buNone/>
            </a:lvl1pPr>
          </a:lstStyle>
          <a:p>
            <a:r>
              <a:rPr lang="en-GB" dirty="0"/>
              <a:t>To insert a table, click on the icon in the middle.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Title 20 pt, two lines max. and two content blocks</a:t>
            </a:r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FC1CD-D43E-45C6-B8EA-A1D2B490765A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20" name="Inhaltsplatzhalter 19"/>
          <p:cNvSpPr>
            <a:spLocks noGrp="1"/>
          </p:cNvSpPr>
          <p:nvPr>
            <p:ph sz="quarter" idx="13" hasCustomPrompt="1"/>
          </p:nvPr>
        </p:nvSpPr>
        <p:spPr>
          <a:xfrm>
            <a:off x="306000" y="1530000"/>
            <a:ext cx="4111200" cy="3304800"/>
          </a:xfrm>
          <a:noFill/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GB" dirty="0"/>
              <a:t>To customise the points hierarchy, use Start &gt; Paragraph &gt; Decrease/Increase List Level.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22" name="Inhaltsplatzhalter 21"/>
          <p:cNvSpPr>
            <a:spLocks noGrp="1"/>
          </p:cNvSpPr>
          <p:nvPr>
            <p:ph sz="quarter" idx="14" hasCustomPrompt="1"/>
          </p:nvPr>
        </p:nvSpPr>
        <p:spPr>
          <a:xfrm>
            <a:off x="4723200" y="1530000"/>
            <a:ext cx="4111200" cy="3304800"/>
          </a:xfrm>
          <a:noFill/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GB" dirty="0"/>
              <a:t>To customise the points hierarchy, use Start &gt; Paragraph &gt; Decrease/Increase List Level.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306000" y="1206000"/>
            <a:ext cx="4111200" cy="324000"/>
          </a:xfrm>
          <a:noFill/>
        </p:spPr>
        <p:txBody>
          <a:bodyPr lIns="0" tIns="0" rIns="0" bIns="0" anchor="t"/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Heading 16 pt, single 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723200" y="1206000"/>
            <a:ext cx="4111200" cy="324000"/>
          </a:xfrm>
          <a:noFill/>
        </p:spPr>
        <p:txBody>
          <a:bodyPr lIns="0" tIns="0" rIns="0" bIns="0" anchor="t"/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Heading 16 pt, single 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2976">
          <p15:clr>
            <a:srgbClr val="FBAE40"/>
          </p15:clr>
        </p15:guide>
        <p15:guide id="2" pos="2784">
          <p15:clr>
            <a:srgbClr val="FBAE40"/>
          </p15:clr>
        </p15:guide>
        <p15:guide id="3" orient="horz" pos="965">
          <p15:clr>
            <a:srgbClr val="FBAE40"/>
          </p15:clr>
        </p15:guide>
        <p15:guide id="4" orient="horz" pos="11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3" hasCustomPrompt="1"/>
          </p:nvPr>
        </p:nvSpPr>
        <p:spPr>
          <a:xfrm>
            <a:off x="306000" y="1206000"/>
            <a:ext cx="2638800" cy="2178000"/>
          </a:xfrm>
        </p:spPr>
        <p:txBody>
          <a:bodyPr>
            <a:normAutofit/>
          </a:bodyPr>
          <a:lstStyle>
            <a:lvl1pPr marL="0" indent="0">
              <a:buFontTx/>
              <a:buNone/>
            </a:lvl1pPr>
          </a:lstStyle>
          <a:p>
            <a:r>
              <a:rPr lang="en-GB" noProof="0" dirty="0"/>
              <a:t>To insert a picture, click on the icon in the middle.</a:t>
            </a:r>
          </a:p>
        </p:txBody>
      </p:sp>
      <p:sp>
        <p:nvSpPr>
          <p:cNvPr id="20" name="Bildplatzhalter 18"/>
          <p:cNvSpPr>
            <a:spLocks noGrp="1"/>
          </p:cNvSpPr>
          <p:nvPr>
            <p:ph type="pic" sz="quarter" idx="14" hasCustomPrompt="1"/>
          </p:nvPr>
        </p:nvSpPr>
        <p:spPr>
          <a:xfrm>
            <a:off x="3254400" y="1206000"/>
            <a:ext cx="2638800" cy="2178000"/>
          </a:xfrm>
        </p:spPr>
        <p:txBody>
          <a:bodyPr>
            <a:normAutofit/>
          </a:bodyPr>
          <a:lstStyle>
            <a:lvl1pPr marL="0" indent="0">
              <a:buFontTx/>
              <a:buNone/>
              <a:tabLst/>
            </a:lvl1pPr>
          </a:lstStyle>
          <a:p>
            <a:r>
              <a:rPr lang="en-GB" noProof="0" dirty="0"/>
              <a:t>To insert a picture, click on the icon in the middle.</a:t>
            </a:r>
          </a:p>
        </p:txBody>
      </p:sp>
      <p:sp>
        <p:nvSpPr>
          <p:cNvPr id="21" name="Bildplatzhalter 18"/>
          <p:cNvSpPr>
            <a:spLocks noGrp="1"/>
          </p:cNvSpPr>
          <p:nvPr>
            <p:ph type="pic" sz="quarter" idx="15" hasCustomPrompt="1"/>
          </p:nvPr>
        </p:nvSpPr>
        <p:spPr>
          <a:xfrm>
            <a:off x="6199200" y="1206000"/>
            <a:ext cx="2638800" cy="2178000"/>
          </a:xfrm>
        </p:spPr>
        <p:txBody>
          <a:bodyPr>
            <a:normAutofit/>
          </a:bodyPr>
          <a:lstStyle>
            <a:lvl1pPr marL="0" indent="0">
              <a:buFontTx/>
              <a:buNone/>
            </a:lvl1pPr>
          </a:lstStyle>
          <a:p>
            <a:r>
              <a:rPr lang="en-GB" noProof="0" dirty="0"/>
              <a:t>To insert a picture, click on the icon in the middle.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306000" y="3456001"/>
            <a:ext cx="2638800" cy="1377938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</a:lvl7pPr>
            <a:lvl8pPr>
              <a:spcAft>
                <a:spcPts val="0"/>
              </a:spcAft>
            </a:lvl8pPr>
            <a:lvl9pPr>
              <a:spcAft>
                <a:spcPts val="0"/>
              </a:spcAft>
            </a:lvl9pPr>
          </a:lstStyle>
          <a:p>
            <a:pPr lvl="0"/>
            <a:r>
              <a:rPr lang="en-GB" noProof="0" dirty="0"/>
              <a:t>To customise the points hierarchy, use Start &gt; Paragraph &gt; Decrease/Increase List Level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4" name="Textplatzhalt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3254400" y="3456000"/>
            <a:ext cx="2638800" cy="137793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</a:lvl7pPr>
            <a:lvl8pPr>
              <a:spcAft>
                <a:spcPts val="0"/>
              </a:spcAft>
            </a:lvl8pPr>
            <a:lvl9pPr>
              <a:spcAft>
                <a:spcPts val="0"/>
              </a:spcAft>
            </a:lvl9pPr>
          </a:lstStyle>
          <a:p>
            <a:pPr lvl="0"/>
            <a:r>
              <a:rPr lang="en-GB" noProof="0" dirty="0"/>
              <a:t>To customise the points hierarchy, use Start &gt; Paragraph &gt; Decrease/Increase List Level.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5" name="Textplatzhalt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6199200" y="3456001"/>
            <a:ext cx="2638800" cy="1377938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</a:lvl7pPr>
            <a:lvl8pPr>
              <a:spcAft>
                <a:spcPts val="0"/>
              </a:spcAft>
            </a:lvl8pPr>
            <a:lvl9pPr>
              <a:spcAft>
                <a:spcPts val="0"/>
              </a:spcAft>
            </a:lvl9pPr>
          </a:lstStyle>
          <a:p>
            <a:pPr lvl="0">
              <a:spcAft>
                <a:spcPts val="0"/>
              </a:spcAft>
            </a:pPr>
            <a:r>
              <a:rPr lang="en-GB" noProof="0" dirty="0"/>
              <a:t>To customise the points hierarchy, use Start &gt; Paragraph &gt; Decrease/Increase List Level.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20 pt, two lines max. and three pictures with text</a:t>
            </a:r>
          </a:p>
        </p:txBody>
      </p:sp>
      <p:sp>
        <p:nvSpPr>
          <p:cNvPr id="16" name="Datumsplatzhalter 1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AD6C4F29-B1A6-4A71-845F-302A00164058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8" name="Fußzeilenplatzhalter 17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568800" y="3222000"/>
            <a:ext cx="2376000" cy="162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3517200" y="3222000"/>
            <a:ext cx="2376000" cy="162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462000" y="3222000"/>
            <a:ext cx="2376000" cy="162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77">
          <p15:clr>
            <a:srgbClr val="FBAE40"/>
          </p15:clr>
        </p15:guide>
        <p15:guide id="2" pos="1854">
          <p15:clr>
            <a:srgbClr val="FBAE40"/>
          </p15:clr>
        </p15:guide>
        <p15:guide id="3" pos="2051">
          <p15:clr>
            <a:srgbClr val="FBAE40"/>
          </p15:clr>
        </p15:guide>
        <p15:guide id="4" pos="3711">
          <p15:clr>
            <a:srgbClr val="FBAE40"/>
          </p15:clr>
        </p15:guide>
        <p15:guide id="5" pos="390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994000" y="1206000"/>
            <a:ext cx="2844000" cy="3628800"/>
          </a:xfrm>
          <a:noFill/>
          <a:effectLst/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GB" noProof="0" dirty="0"/>
              <a:t>To customise the points hierarchy, use Start &gt; Paragraph &gt; Decrease/Increase List Level.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20 </a:t>
            </a:r>
            <a:r>
              <a:rPr lang="en-GB" noProof="0" dirty="0" err="1"/>
              <a:t>pt</a:t>
            </a:r>
            <a:r>
              <a:rPr lang="en-GB" noProof="0" dirty="0"/>
              <a:t>, two lines max. and picture with text</a:t>
            </a:r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9" hasCustomPrompt="1"/>
          </p:nvPr>
        </p:nvSpPr>
        <p:spPr>
          <a:xfrm>
            <a:off x="306000" y="1206000"/>
            <a:ext cx="5382000" cy="36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 dirty="0"/>
              <a:t>To insert a picture, click on the icon in the middle.</a:t>
            </a:r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A4A6661B-A3F9-44F1-ADEE-2B4AAF3C51C6}" type="datetime4">
              <a:rPr lang="en-GB" noProof="0" smtClean="0"/>
              <a:t>25 March 2019</a:t>
            </a:fld>
            <a:endParaRPr lang="en-GB" noProof="0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D56DB8AA-803C-49D2-90AA-1140CE72DCD7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noProof="0"/>
              <a:t>MR Elements</a:t>
            </a:r>
            <a:endParaRPr lang="en-GB" noProof="0" dirty="0"/>
          </a:p>
        </p:txBody>
      </p:sp>
      <p:sp>
        <p:nvSpPr>
          <p:cNvPr id="9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312000" y="4618800"/>
            <a:ext cx="2376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Image: Please quote the image / source / name of </a:t>
            </a:r>
            <a:r>
              <a:rPr lang="en-GB" noProof="0" dirty="0" err="1"/>
              <a:t>Photographern</a:t>
            </a:r>
            <a:endParaRPr lang="en-GB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377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itle and conten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994000" y="1206000"/>
            <a:ext cx="2844000" cy="3628800"/>
          </a:xfrm>
          <a:noFill/>
          <a:effectLst/>
        </p:spPr>
        <p:txBody>
          <a:bodyPr lIns="0" tIns="0" rIns="0" bIns="0">
            <a:noAutofit/>
          </a:bodyPr>
          <a:lstStyle/>
          <a:p>
            <a:pPr lvl="0"/>
            <a:r>
              <a:rPr lang="en-GB" noProof="0" dirty="0"/>
              <a:t>To customise the points hierarchy, use Start &gt; Paragraph &gt; Decrease/Increase List Level.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20 pt, two lines max. and contents with comments column</a:t>
            </a:r>
          </a:p>
        </p:txBody>
      </p:sp>
      <p:sp>
        <p:nvSpPr>
          <p:cNvPr id="14" name="Inhaltsplatzhalter 16"/>
          <p:cNvSpPr>
            <a:spLocks noGrp="1"/>
          </p:cNvSpPr>
          <p:nvPr>
            <p:ph sz="quarter" idx="19" hasCustomPrompt="1"/>
          </p:nvPr>
        </p:nvSpPr>
        <p:spPr>
          <a:xfrm>
            <a:off x="306000" y="1530000"/>
            <a:ext cx="5382000" cy="3304800"/>
          </a:xfrm>
          <a:noFill/>
          <a:effectLst/>
        </p:spPr>
        <p:txBody>
          <a:bodyPr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/>
            </a:lvl1pPr>
          </a:lstStyle>
          <a:p>
            <a:pPr lvl="0"/>
            <a:r>
              <a:rPr lang="en-GB" dirty="0"/>
              <a:t>To insert a table, chart, SmartArt graphic, picture or online graphic, click on the icon in the middle.</a:t>
            </a:r>
            <a:endParaRPr dirty="0"/>
          </a:p>
        </p:txBody>
      </p:sp>
      <p:sp>
        <p:nvSpPr>
          <p:cNvPr id="2" name="Datumsplatzhalter 1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0515F88-F15E-4273-A7E6-FA35F589AEA1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12" name="Textplatzhalt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06000"/>
            <a:ext cx="5382000" cy="324000"/>
          </a:xfr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Heading 16 pt, single 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965">
          <p15:clr>
            <a:srgbClr val="FBAE40"/>
          </p15:clr>
        </p15:guide>
        <p15:guide id="2" pos="37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1075500"/>
            <a:ext cx="9144000" cy="40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12000" y="4212000"/>
            <a:ext cx="7920000" cy="324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2200" i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Author, two lines max.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>
          <a:xfrm>
            <a:off x="612000" y="1511999"/>
            <a:ext cx="7920000" cy="2394261"/>
          </a:xfrm>
        </p:spPr>
        <p:txBody>
          <a:bodyPr anchor="b" anchorCtr="0">
            <a:noAutofit/>
          </a:bodyPr>
          <a:lstStyle>
            <a:lvl1pPr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Separating slide 40 pt, with multi-line quotation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537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paration slide with picture se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076400"/>
            <a:ext cx="9144000" cy="4068000"/>
          </a:xfrm>
          <a:solidFill>
            <a:schemeClr val="tx2"/>
          </a:solidFill>
        </p:spPr>
        <p:txBody>
          <a:bodyPr tIns="1260000" anchor="t" anchorCtr="1"/>
          <a:lstStyle>
            <a:lvl1pPr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To insert a picture, click on the icon in the middle.</a:t>
            </a:r>
          </a:p>
        </p:txBody>
      </p:sp>
      <p:sp>
        <p:nvSpPr>
          <p:cNvPr id="4" name="Titel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Separating slide 20 pt, three lines max. with background picture</a:t>
            </a:r>
          </a:p>
        </p:txBody>
      </p:sp>
      <p:sp>
        <p:nvSpPr>
          <p:cNvPr id="5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768000" y="4927500"/>
            <a:ext cx="2376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  <p:sp>
        <p:nvSpPr>
          <p:cNvPr id="13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2065500"/>
            <a:ext cx="3384000" cy="3078000"/>
          </a:xfrm>
        </p:spPr>
        <p:txBody>
          <a:bodyPr wrap="none" anchor="t">
            <a:noAutofit/>
          </a:bodyPr>
          <a:lstStyle>
            <a:lvl1pPr marL="0" indent="0" algn="dist">
              <a:lnSpc>
                <a:spcPct val="100000"/>
              </a:lnSpc>
              <a:spcAft>
                <a:spcPts val="0"/>
              </a:spcAft>
              <a:buFontTx/>
              <a:buNone/>
              <a:defRPr sz="200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ing slide with backgrou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8"/>
          <p:cNvSpPr>
            <a:spLocks noGrp="1"/>
          </p:cNvSpPr>
          <p:nvPr>
            <p:ph type="title" hasCustomPrompt="1"/>
          </p:nvPr>
        </p:nvSpPr>
        <p:spPr>
          <a:xfrm>
            <a:off x="1440000" y="1368000"/>
            <a:ext cx="4356000" cy="1188000"/>
          </a:xfrm>
          <a:noFill/>
        </p:spPr>
        <p:txBody>
          <a:bodyPr lIns="0" tIns="0" rIns="306000" bIns="0">
            <a:noAutofit/>
          </a:bodyPr>
          <a:lstStyle>
            <a:lvl1pPr>
              <a:defRPr sz="2000" b="0" cap="none" baseline="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Separating slide 20 pt, three lines max. with background picture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24" hasCustomPrompt="1"/>
          </p:nvPr>
        </p:nvSpPr>
        <p:spPr>
          <a:xfrm>
            <a:off x="90000" y="612000"/>
            <a:ext cx="1260000" cy="1800225"/>
          </a:xfrm>
          <a:noFill/>
        </p:spPr>
        <p:txBody>
          <a:bodyPr>
            <a:noAutofit/>
          </a:bodyPr>
          <a:lstStyle>
            <a:lvl1pPr marL="0" indent="0" algn="r">
              <a:buFontTx/>
              <a:buNone/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4400"/>
          </a:xfrm>
          <a:custGeom>
            <a:avLst/>
            <a:gdLst>
              <a:gd name="connsiteX0" fmla="*/ 0 w 9144000"/>
              <a:gd name="connsiteY0" fmla="*/ 0 h 5144400"/>
              <a:gd name="connsiteX1" fmla="*/ 9144000 w 9144000"/>
              <a:gd name="connsiteY1" fmla="*/ 0 h 5144400"/>
              <a:gd name="connsiteX2" fmla="*/ 9144000 w 9144000"/>
              <a:gd name="connsiteY2" fmla="*/ 5144400 h 5144400"/>
              <a:gd name="connsiteX3" fmla="*/ 0 w 9144000"/>
              <a:gd name="connsiteY3" fmla="*/ 5144400 h 5144400"/>
              <a:gd name="connsiteX4" fmla="*/ 0 w 9144000"/>
              <a:gd name="connsiteY4" fmla="*/ 2556000 h 5144400"/>
              <a:gd name="connsiteX5" fmla="*/ 5795963 w 9144000"/>
              <a:gd name="connsiteY5" fmla="*/ 2556000 h 5144400"/>
              <a:gd name="connsiteX6" fmla="*/ 5795963 w 9144000"/>
              <a:gd name="connsiteY6" fmla="*/ 612000 h 5144400"/>
              <a:gd name="connsiteX7" fmla="*/ 0 w 9144000"/>
              <a:gd name="connsiteY7" fmla="*/ 612000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4400">
                <a:moveTo>
                  <a:pt x="0" y="0"/>
                </a:moveTo>
                <a:lnTo>
                  <a:pt x="9144000" y="0"/>
                </a:lnTo>
                <a:lnTo>
                  <a:pt x="9144000" y="5144400"/>
                </a:lnTo>
                <a:lnTo>
                  <a:pt x="0" y="5144400"/>
                </a:lnTo>
                <a:lnTo>
                  <a:pt x="0" y="2556000"/>
                </a:lnTo>
                <a:lnTo>
                  <a:pt x="5795963" y="2556000"/>
                </a:lnTo>
                <a:lnTo>
                  <a:pt x="5795963" y="612000"/>
                </a:lnTo>
                <a:lnTo>
                  <a:pt x="0" y="612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2880000" anchor="t" anchorCtr="1">
            <a:noAutofit/>
          </a:bodyPr>
          <a:lstStyle>
            <a:lvl1pPr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To insert a picture, click on the icon in the middle.</a:t>
            </a:r>
          </a:p>
        </p:txBody>
      </p:sp>
      <p:sp>
        <p:nvSpPr>
          <p:cNvPr id="5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768000" y="4928400"/>
            <a:ext cx="2376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10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ackground Picture and Comment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9" hasCustomPrompt="1"/>
          </p:nvPr>
        </p:nvSpPr>
        <p:spPr>
          <a:xfrm>
            <a:off x="0" y="1080000"/>
            <a:ext cx="9144000" cy="4068000"/>
          </a:xfrm>
          <a:solidFill>
            <a:schemeClr val="tx2"/>
          </a:solidFill>
        </p:spPr>
        <p:txBody>
          <a:bodyPr wrap="none" lIns="0" tIns="1440000" rIns="0" bIns="0" anchor="t" anchorCtr="1"/>
          <a:lstStyle>
            <a:lvl1pPr marL="0" marR="0" indent="0" algn="ctr" defTabSz="2700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To insert a picture, click on</a:t>
            </a:r>
            <a:br>
              <a:rPr lang="en-GB" dirty="0"/>
            </a:br>
            <a:r>
              <a:rPr lang="en-GB" dirty="0"/>
              <a:t>the icon in the middle.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994000" y="1206000"/>
            <a:ext cx="2844000" cy="3628800"/>
          </a:xfrm>
          <a:solidFill>
            <a:schemeClr val="bg1"/>
          </a:solidFill>
          <a:effectLst/>
        </p:spPr>
        <p:txBody>
          <a:bodyPr lIns="108000" tIns="72000" rIns="36000" bIns="36000">
            <a:noAutofit/>
          </a:bodyPr>
          <a:lstStyle/>
          <a:p>
            <a:pPr lvl="0"/>
            <a:r>
              <a:rPr lang="en-GB" noProof="0" dirty="0"/>
              <a:t>To customise the points hierarchy, use Start &gt; Paragraph &gt; Decrease/Increase List Level.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endParaRPr lang="en-GB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Separating slide 20 pt, two lines max. and background picture with comments column</a:t>
            </a:r>
          </a:p>
        </p:txBody>
      </p:sp>
      <p:sp>
        <p:nvSpPr>
          <p:cNvPr id="12" name="Textplatzhalt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70800"/>
            <a:ext cx="5382000" cy="324000"/>
          </a:xfrm>
          <a:noFill/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Heading 16 pt, single line</a:t>
            </a:r>
          </a:p>
        </p:txBody>
      </p:sp>
      <p:sp>
        <p:nvSpPr>
          <p:cNvPr id="2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768000" y="4928400"/>
            <a:ext cx="2376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</p:spTree>
    <p:extLst>
      <p:ext uri="{BB962C8B-B14F-4D97-AF65-F5344CB8AC3E}">
        <p14:creationId xmlns:p14="http://schemas.microsoft.com/office/powerpoint/2010/main" val="57970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only 20 pt, two lines max. </a:t>
            </a:r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734C5-F786-4EFC-8611-1059F716B2AA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2" pos="2976">
          <p15:clr>
            <a:srgbClr val="FBAE40"/>
          </p15:clr>
        </p15:guide>
        <p15:guide id="3" orient="horz" pos="2909">
          <p15:clr>
            <a:srgbClr val="FBAE40"/>
          </p15:clr>
        </p15:guide>
        <p15:guide id="4" orient="horz" pos="963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media cl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enplatzhalter 8"/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1076400"/>
            <a:ext cx="9144000" cy="4068000"/>
          </a:xfrm>
          <a:solidFill>
            <a:schemeClr val="tx2"/>
          </a:solidFill>
        </p:spPr>
        <p:txBody>
          <a:bodyPr tIns="1620000" anchor="t" anchorCtr="1">
            <a:noAutofit/>
          </a:bodyPr>
          <a:lstStyle>
            <a:lvl1pPr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To insert a video, click on the icon in the middle.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 20 pt, two lines max. and video</a:t>
            </a:r>
          </a:p>
        </p:txBody>
      </p:sp>
      <p:pic>
        <p:nvPicPr>
          <p:cNvPr id="5" name="Grafik 4" descr="Logo_Munich Re_36mm_RGB.e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200" y="306000"/>
            <a:ext cx="1305000" cy="303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r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7241F-2BDD-432D-BF4B-4E12A777B48D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7" name="Rectangle 11"/>
          <p:cNvSpPr/>
          <p:nvPr/>
        </p:nvSpPr>
        <p:spPr>
          <a:xfrm>
            <a:off x="306000" y="1204619"/>
            <a:ext cx="1134000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589A"/>
                </a:solidFill>
                <a:effectLst/>
                <a:uLnTx/>
                <a:uFillTx/>
              </a:rPr>
              <a:t>Risk Solutions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306000" y="360363"/>
            <a:ext cx="6840000" cy="55800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l" defTabSz="685800" rtl="0" eaLnBrk="1" latinLnBrk="0" hangingPunct="1">
              <a:spcBef>
                <a:spcPct val="0"/>
              </a:spcBef>
              <a:buNone/>
            </a:pPr>
            <a:r>
              <a:rPr lang="en-GB" sz="2000" kern="1200" noProof="0" dirty="0">
                <a:solidFill>
                  <a:schemeClr val="tx2"/>
                </a:solidFill>
              </a:rPr>
              <a:t>Imprint</a:t>
            </a:r>
          </a:p>
        </p:txBody>
      </p:sp>
      <p:grpSp>
        <p:nvGrpSpPr>
          <p:cNvPr id="4" name="Gruppieren 3"/>
          <p:cNvGrpSpPr/>
          <p:nvPr/>
        </p:nvGrpSpPr>
        <p:grpSpPr>
          <a:xfrm>
            <a:off x="6349" y="2986620"/>
            <a:ext cx="9060955" cy="482184"/>
            <a:chOff x="83046" y="2862001"/>
            <a:chExt cx="9060955" cy="482184"/>
          </a:xfrm>
        </p:grpSpPr>
        <p:sp>
          <p:nvSpPr>
            <p:cNvPr id="9" name="TextBox 15"/>
            <p:cNvSpPr txBox="1"/>
            <p:nvPr/>
          </p:nvSpPr>
          <p:spPr>
            <a:xfrm>
              <a:off x="83757" y="2862002"/>
              <a:ext cx="9060244" cy="482183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400"/>
                </a:spcBef>
              </a:pPr>
              <a:fld id="{2EA1A526-505F-4320-8510-64E59A38533D}" type="datetime1">
                <a:rPr lang="en-GB" sz="1400" i="0" smtClean="0">
                  <a:solidFill>
                    <a:schemeClr val="tx2"/>
                  </a:solidFill>
                </a:rPr>
                <a:pPr algn="l">
                  <a:spcBef>
                    <a:spcPts val="400"/>
                  </a:spcBef>
                </a:pPr>
                <a:t>25/03/2019</a:t>
              </a:fld>
              <a:r>
                <a:rPr lang="en-GB" sz="1400" i="0" dirty="0">
                  <a:solidFill>
                    <a:schemeClr val="tx2"/>
                  </a:solidFill>
                </a:rPr>
                <a:t> 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Münchener Rückversicherungs-Gesellschaft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fld id="{953158A1-D36F-4775-AC10-954A35492F00}" type="datetime1">
                <a:rPr kumimoji="0" lang="en-GB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t>25/03/2019</a:t>
              </a:fld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Munich Reinsurance Company</a:t>
              </a:r>
            </a:p>
          </p:txBody>
        </p:sp>
        <p:sp>
          <p:nvSpPr>
            <p:cNvPr id="16" name="Jahr2"/>
            <p:cNvSpPr txBox="1">
              <a:spLocks/>
            </p:cNvSpPr>
            <p:nvPr/>
          </p:nvSpPr>
          <p:spPr>
            <a:xfrm>
              <a:off x="83046" y="2862001"/>
              <a:ext cx="497681" cy="48218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vert="horz" lIns="0" tIns="0" rIns="36000" bIns="0" rtlCol="0" anchor="ctr">
              <a:noAutofit/>
            </a:bodyPr>
            <a:lstStyle>
              <a:defPPr>
                <a:defRPr lang="en-GB"/>
              </a:defPPr>
              <a:lvl1pPr marL="0" algn="r" defTabSz="685800" rtl="0" eaLnBrk="1" latinLnBrk="0" hangingPunct="1">
                <a:defRPr sz="600" kern="1200">
                  <a:solidFill>
                    <a:schemeClr val="accent4">
                      <a:lumMod val="75000"/>
                    </a:schemeClr>
                  </a:solidFill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ts val="400"/>
                </a:spcBef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©</a:t>
              </a:r>
            </a:p>
            <a:p>
              <a:pPr>
                <a:spcBef>
                  <a:spcPts val="400"/>
                </a:spcBef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© </a:t>
              </a:r>
              <a:endParaRPr lang="en-GB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8" name="Rechteck 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00" y="1530000"/>
            <a:ext cx="8532000" cy="126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lvl="0"/>
            <a:r>
              <a:rPr lang="en-GB" noProof="0" dirty="0"/>
              <a:t>Please add here your Legal Entity</a:t>
            </a:r>
          </a:p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075500"/>
            <a:ext cx="9142413" cy="406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06000" y="360363"/>
            <a:ext cx="6840000" cy="55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Title 20 pt, two lines max.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06000" y="1206000"/>
            <a:ext cx="8530200" cy="362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To customise the points hierarchy, use Start &gt; Paragraph &gt; Decrease/Increase List Level. Alternatively, insert table, chart, SmartArt graphic, picture or online graphic.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2"/>
          </p:nvPr>
        </p:nvSpPr>
        <p:spPr>
          <a:xfrm>
            <a:off x="7618295" y="4896000"/>
            <a:ext cx="833438" cy="202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D5A23273-DF53-4308-808F-A4D3F819D70F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976685" y="4896000"/>
            <a:ext cx="3598784" cy="202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447812" y="4896000"/>
            <a:ext cx="389503" cy="202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6" name="Grafik 15" descr="Logo_Munich Re_36mm_RGB.emf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200" y="306000"/>
            <a:ext cx="1305000" cy="303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5" r:id="rId2"/>
    <p:sldLayoutId id="2147483751" r:id="rId3"/>
    <p:sldLayoutId id="2147483752" r:id="rId4"/>
    <p:sldLayoutId id="2147483755" r:id="rId5"/>
    <p:sldLayoutId id="2147483753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43" r:id="rId14"/>
    <p:sldLayoutId id="2147483723" r:id="rId15"/>
    <p:sldLayoutId id="2147483757" r:id="rId16"/>
    <p:sldLayoutId id="2147483724" r:id="rId17"/>
    <p:sldLayoutId id="2147483725" r:id="rId18"/>
    <p:sldLayoutId id="2147483744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270000" rtl="0" eaLnBrk="1" latinLnBrk="0" hangingPunct="1">
        <a:spcBef>
          <a:spcPct val="0"/>
        </a:spcBef>
        <a:buNone/>
        <a:defRPr sz="2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81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08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35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62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89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16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43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orient="horz" pos="761">
          <p15:clr>
            <a:srgbClr val="F26B43"/>
          </p15:clr>
        </p15:guide>
        <p15:guide id="4" pos="5567">
          <p15:clr>
            <a:srgbClr val="F26B43"/>
          </p15:clr>
        </p15:guide>
        <p15:guide id="5" orient="horz" pos="3047">
          <p15:clr>
            <a:srgbClr val="F26B43"/>
          </p15:clr>
        </p15:guide>
        <p15:guide id="6" orient="horz" pos="22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 – </a:t>
            </a:r>
            <a:r>
              <a:rPr lang="en-GB" dirty="0" err="1"/>
              <a:t>Erklärung</a:t>
            </a:r>
            <a:r>
              <a:rPr lang="en-GB" dirty="0"/>
              <a:t> </a:t>
            </a:r>
            <a:r>
              <a:rPr lang="en-GB" dirty="0" err="1"/>
              <a:t>Teil</a:t>
            </a:r>
            <a:r>
              <a:rPr lang="en-GB" dirty="0"/>
              <a:t> 1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DD15-A02F-49EB-BB25-B8FFF7A7CAAE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0" name="Textfeld 9"/>
          <p:cNvSpPr txBox="1"/>
          <p:nvPr/>
        </p:nvSpPr>
        <p:spPr>
          <a:xfrm>
            <a:off x="287521" y="1130158"/>
            <a:ext cx="8355042" cy="390556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1. KPIs: </a:t>
            </a:r>
            <a:r>
              <a:rPr lang="de-DE" sz="1200" dirty="0">
                <a:solidFill>
                  <a:schemeClr val="tx2"/>
                </a:solidFill>
              </a:rPr>
              <a:t>geben den aktuellen Stand der KPIs an, beziehen sich also nur auf das 2017 (</a:t>
            </a:r>
            <a:r>
              <a:rPr lang="de-DE" sz="1200" i="1" dirty="0">
                <a:solidFill>
                  <a:schemeClr val="tx2"/>
                </a:solidFill>
              </a:rPr>
              <a:t>hierfür ist ein </a:t>
            </a:r>
            <a:r>
              <a:rPr lang="de-DE" sz="1200" i="1" dirty="0" err="1">
                <a:solidFill>
                  <a:schemeClr val="tx2"/>
                </a:solidFill>
              </a:rPr>
              <a:t>Slicer</a:t>
            </a:r>
            <a:r>
              <a:rPr lang="de-DE" sz="1200" i="1" dirty="0">
                <a:solidFill>
                  <a:schemeClr val="tx2"/>
                </a:solidFill>
              </a:rPr>
              <a:t> für </a:t>
            </a:r>
            <a:r>
              <a:rPr lang="de-DE" sz="1200" i="1" dirty="0" err="1">
                <a:solidFill>
                  <a:schemeClr val="tx2"/>
                </a:solidFill>
              </a:rPr>
              <a:t>year</a:t>
            </a:r>
            <a:r>
              <a:rPr lang="de-DE" sz="1200" i="1" dirty="0">
                <a:solidFill>
                  <a:schemeClr val="tx2"/>
                </a:solidFill>
              </a:rPr>
              <a:t> angelegt, der aber unsichtbar ist*</a:t>
            </a:r>
            <a:r>
              <a:rPr lang="de-DE" sz="1200" dirty="0">
                <a:solidFill>
                  <a:schemeClr val="tx2"/>
                </a:solidFill>
              </a:rPr>
              <a:t>); werden durch „</a:t>
            </a:r>
            <a:r>
              <a:rPr lang="de-DE" sz="1200" dirty="0" err="1">
                <a:solidFill>
                  <a:schemeClr val="tx2"/>
                </a:solidFill>
              </a:rPr>
              <a:t>Cancellation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reason</a:t>
            </a:r>
            <a:r>
              <a:rPr lang="de-DE" sz="1200" dirty="0">
                <a:solidFill>
                  <a:schemeClr val="tx2"/>
                </a:solidFill>
              </a:rPr>
              <a:t>“ </a:t>
            </a:r>
            <a:r>
              <a:rPr lang="de-DE" sz="1200">
                <a:solidFill>
                  <a:schemeClr val="tx2"/>
                </a:solidFill>
              </a:rPr>
              <a:t>und „Date“ </a:t>
            </a:r>
            <a:r>
              <a:rPr lang="de-DE" sz="1200" dirty="0">
                <a:solidFill>
                  <a:schemeClr val="tx2"/>
                </a:solidFill>
              </a:rPr>
              <a:t>gefiltert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99561" y="4543874"/>
            <a:ext cx="7991341" cy="30469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* Einen </a:t>
            </a:r>
            <a:r>
              <a:rPr lang="de-DE" sz="900" dirty="0" err="1">
                <a:solidFill>
                  <a:schemeClr val="tx2"/>
                </a:solidFill>
                <a:sym typeface="Wingdings" panose="05000000000000000000" pitchFamily="2" charset="2"/>
              </a:rPr>
              <a:t>Slicer</a:t>
            </a: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 unsichtbar machen: Den </a:t>
            </a:r>
            <a:r>
              <a:rPr lang="de-DE" sz="900" dirty="0" err="1">
                <a:solidFill>
                  <a:schemeClr val="tx2"/>
                </a:solidFill>
                <a:sym typeface="Wingdings" panose="05000000000000000000" pitchFamily="2" charset="2"/>
              </a:rPr>
              <a:t>Slicer</a:t>
            </a: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 anklicken, dann unter „View“ das „</a:t>
            </a:r>
            <a:r>
              <a:rPr lang="de-DE" sz="900" dirty="0" err="1">
                <a:solidFill>
                  <a:schemeClr val="tx2"/>
                </a:solidFill>
                <a:sym typeface="Wingdings" panose="05000000000000000000" pitchFamily="2" charset="2"/>
              </a:rPr>
              <a:t>Selection</a:t>
            </a: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900" dirty="0" err="1">
                <a:solidFill>
                  <a:schemeClr val="tx2"/>
                </a:solidFill>
                <a:sym typeface="Wingdings" panose="05000000000000000000" pitchFamily="2" charset="2"/>
              </a:rPr>
              <a:t>Pane</a:t>
            </a: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“ aufrufen; hier kann der ausgewählte </a:t>
            </a:r>
            <a:r>
              <a:rPr lang="de-DE" sz="900" dirty="0" err="1">
                <a:solidFill>
                  <a:schemeClr val="tx2"/>
                </a:solidFill>
                <a:sym typeface="Wingdings" panose="05000000000000000000" pitchFamily="2" charset="2"/>
              </a:rPr>
              <a:t>Slicer</a:t>
            </a: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 durch einen Klick auf das „Auge“ unsichtbar gemacht werden  Zweck: Man will nur einen bestimmten Wert für eine Variable zulassen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287521" y="1692131"/>
            <a:ext cx="8355042" cy="406265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2. </a:t>
            </a:r>
            <a:r>
              <a:rPr lang="de-DE" sz="1200" b="1" dirty="0" err="1">
                <a:solidFill>
                  <a:schemeClr val="tx2"/>
                </a:solidFill>
              </a:rPr>
              <a:t>Churn</a:t>
            </a:r>
            <a:r>
              <a:rPr lang="de-DE" sz="1200" b="1" dirty="0">
                <a:solidFill>
                  <a:schemeClr val="tx2"/>
                </a:solidFill>
              </a:rPr>
              <a:t> Ratio per </a:t>
            </a:r>
            <a:r>
              <a:rPr lang="de-DE" sz="1200" b="1" dirty="0" err="1">
                <a:solidFill>
                  <a:schemeClr val="tx2"/>
                </a:solidFill>
              </a:rPr>
              <a:t>Product</a:t>
            </a:r>
            <a:r>
              <a:rPr lang="de-DE" sz="1200" b="1" dirty="0">
                <a:solidFill>
                  <a:schemeClr val="tx2"/>
                </a:solidFill>
              </a:rPr>
              <a:t> Line: </a:t>
            </a:r>
            <a:r>
              <a:rPr lang="de-DE" sz="1200" dirty="0">
                <a:solidFill>
                  <a:schemeClr val="tx2"/>
                </a:solidFill>
              </a:rPr>
              <a:t>bezieht sich ebenfalls nur auf 2018 und wird durch „</a:t>
            </a:r>
            <a:r>
              <a:rPr lang="de-DE" sz="1200" dirty="0" err="1">
                <a:solidFill>
                  <a:schemeClr val="tx2"/>
                </a:solidFill>
              </a:rPr>
              <a:t>Product</a:t>
            </a:r>
            <a:r>
              <a:rPr lang="de-DE" sz="1200" dirty="0">
                <a:solidFill>
                  <a:schemeClr val="tx2"/>
                </a:solidFill>
              </a:rPr>
              <a:t> Lines“ und „</a:t>
            </a:r>
            <a:r>
              <a:rPr lang="de-DE" sz="1200" dirty="0" err="1">
                <a:solidFill>
                  <a:schemeClr val="tx2"/>
                </a:solidFill>
              </a:rPr>
              <a:t>Policy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owner</a:t>
            </a:r>
            <a:r>
              <a:rPr lang="de-DE" sz="1200" dirty="0">
                <a:solidFill>
                  <a:schemeClr val="tx2"/>
                </a:solidFill>
              </a:rPr>
              <a:t> type“ gefiltert</a:t>
            </a:r>
            <a:r>
              <a:rPr lang="de-DE" sz="1200" b="1" dirty="0">
                <a:solidFill>
                  <a:schemeClr val="tx2"/>
                </a:solidFill>
              </a:rPr>
              <a:t>; wichtig: </a:t>
            </a:r>
            <a:r>
              <a:rPr lang="de-DE" sz="1200" dirty="0">
                <a:solidFill>
                  <a:schemeClr val="tx2"/>
                </a:solidFill>
              </a:rPr>
              <a:t>die betrachteten </a:t>
            </a:r>
            <a:r>
              <a:rPr lang="de-DE" sz="1200" dirty="0" err="1">
                <a:solidFill>
                  <a:schemeClr val="tx2"/>
                </a:solidFill>
              </a:rPr>
              <a:t>Product</a:t>
            </a:r>
            <a:r>
              <a:rPr lang="de-DE" sz="1200" dirty="0">
                <a:solidFill>
                  <a:schemeClr val="tx2"/>
                </a:solidFill>
              </a:rPr>
              <a:t> Lines werden zudem durch die „</a:t>
            </a:r>
            <a:r>
              <a:rPr lang="de-DE" sz="1200" dirty="0" err="1">
                <a:solidFill>
                  <a:schemeClr val="tx2"/>
                </a:solidFill>
              </a:rPr>
              <a:t>Thresholds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for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Product</a:t>
            </a:r>
            <a:r>
              <a:rPr lang="de-DE" sz="1200" dirty="0">
                <a:solidFill>
                  <a:schemeClr val="tx2"/>
                </a:solidFill>
              </a:rPr>
              <a:t> Line“ gefiltert  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87521" y="2254104"/>
            <a:ext cx="8355042" cy="609398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3. </a:t>
            </a:r>
            <a:r>
              <a:rPr lang="de-DE" sz="1200" b="1" dirty="0" err="1">
                <a:solidFill>
                  <a:schemeClr val="tx2"/>
                </a:solidFill>
              </a:rPr>
              <a:t>Churn</a:t>
            </a:r>
            <a:r>
              <a:rPr lang="de-DE" sz="1200" b="1" dirty="0">
                <a:solidFill>
                  <a:schemeClr val="tx2"/>
                </a:solidFill>
              </a:rPr>
              <a:t> Ratio per </a:t>
            </a:r>
            <a:r>
              <a:rPr lang="de-DE" sz="1200" b="1" dirty="0" err="1">
                <a:solidFill>
                  <a:schemeClr val="tx2"/>
                </a:solidFill>
              </a:rPr>
              <a:t>Product</a:t>
            </a:r>
            <a:r>
              <a:rPr lang="de-DE" sz="1200" b="1" dirty="0">
                <a:solidFill>
                  <a:schemeClr val="tx2"/>
                </a:solidFill>
              </a:rPr>
              <a:t> Line </a:t>
            </a:r>
            <a:r>
              <a:rPr lang="de-DE" sz="1200" b="1" dirty="0" err="1">
                <a:solidFill>
                  <a:schemeClr val="tx2"/>
                </a:solidFill>
              </a:rPr>
              <a:t>over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the</a:t>
            </a:r>
            <a:r>
              <a:rPr lang="de-DE" sz="1200" b="1" dirty="0">
                <a:solidFill>
                  <a:schemeClr val="tx2"/>
                </a:solidFill>
              </a:rPr>
              <a:t> last 5 </a:t>
            </a:r>
            <a:r>
              <a:rPr lang="de-DE" sz="1200" b="1" dirty="0" err="1">
                <a:solidFill>
                  <a:schemeClr val="tx2"/>
                </a:solidFill>
              </a:rPr>
              <a:t>years</a:t>
            </a:r>
            <a:r>
              <a:rPr lang="de-DE" sz="1200" b="1" dirty="0">
                <a:solidFill>
                  <a:schemeClr val="tx2"/>
                </a:solidFill>
              </a:rPr>
              <a:t>: </a:t>
            </a:r>
            <a:r>
              <a:rPr lang="de-DE" sz="1200" dirty="0">
                <a:solidFill>
                  <a:schemeClr val="tx2"/>
                </a:solidFill>
              </a:rPr>
              <a:t>die betrachteten </a:t>
            </a:r>
            <a:r>
              <a:rPr lang="de-DE" sz="1200" dirty="0" err="1">
                <a:solidFill>
                  <a:schemeClr val="tx2"/>
                </a:solidFill>
              </a:rPr>
              <a:t>Product</a:t>
            </a:r>
            <a:r>
              <a:rPr lang="de-DE" sz="1200" dirty="0">
                <a:solidFill>
                  <a:schemeClr val="tx2"/>
                </a:solidFill>
              </a:rPr>
              <a:t> Lines sind dieselben wie in Chart 2, also ebenfalls gefiltert nach den „</a:t>
            </a:r>
            <a:r>
              <a:rPr lang="de-DE" sz="1200" dirty="0" err="1">
                <a:solidFill>
                  <a:schemeClr val="tx2"/>
                </a:solidFill>
              </a:rPr>
              <a:t>Thresholds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for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Product</a:t>
            </a:r>
            <a:r>
              <a:rPr lang="de-DE" sz="1200" dirty="0">
                <a:solidFill>
                  <a:schemeClr val="tx2"/>
                </a:solidFill>
              </a:rPr>
              <a:t> Line“; </a:t>
            </a:r>
            <a:r>
              <a:rPr lang="de-DE" sz="1200" i="1" dirty="0">
                <a:solidFill>
                  <a:schemeClr val="tx2"/>
                </a:solidFill>
              </a:rPr>
              <a:t>die Anzahl der betrachteten letzten Jahre (aktuell 5) kann in den Einstellungen des Charts unter „x-Axis“ eingestellt werden 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287521" y="3019210"/>
            <a:ext cx="8355042" cy="406265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4. Total </a:t>
            </a:r>
            <a:r>
              <a:rPr lang="de-DE" sz="1200" b="1" dirty="0" err="1">
                <a:solidFill>
                  <a:schemeClr val="tx2"/>
                </a:solidFill>
              </a:rPr>
              <a:t>Number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of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Policies</a:t>
            </a:r>
            <a:r>
              <a:rPr lang="de-DE" sz="1200" b="1" dirty="0">
                <a:solidFill>
                  <a:schemeClr val="tx2"/>
                </a:solidFill>
              </a:rPr>
              <a:t> per </a:t>
            </a:r>
            <a:r>
              <a:rPr lang="de-DE" sz="1200" b="1" dirty="0" err="1">
                <a:solidFill>
                  <a:schemeClr val="tx2"/>
                </a:solidFill>
              </a:rPr>
              <a:t>Product</a:t>
            </a:r>
            <a:r>
              <a:rPr lang="de-DE" sz="1200" b="1" dirty="0">
                <a:solidFill>
                  <a:schemeClr val="tx2"/>
                </a:solidFill>
              </a:rPr>
              <a:t> Line: </a:t>
            </a:r>
            <a:r>
              <a:rPr lang="de-DE" sz="1200" dirty="0">
                <a:solidFill>
                  <a:schemeClr val="tx2"/>
                </a:solidFill>
              </a:rPr>
              <a:t>die betrachteten </a:t>
            </a:r>
            <a:r>
              <a:rPr lang="de-DE" sz="1200" dirty="0" err="1">
                <a:solidFill>
                  <a:schemeClr val="tx2"/>
                </a:solidFill>
              </a:rPr>
              <a:t>Product</a:t>
            </a:r>
            <a:r>
              <a:rPr lang="de-DE" sz="1200" dirty="0">
                <a:solidFill>
                  <a:schemeClr val="tx2"/>
                </a:solidFill>
              </a:rPr>
              <a:t> Lines sind dieselben wie in Chart 2, also ebenfalls gefiltert nach den „</a:t>
            </a:r>
            <a:r>
              <a:rPr lang="de-DE" sz="1200" dirty="0" err="1">
                <a:solidFill>
                  <a:schemeClr val="tx2"/>
                </a:solidFill>
              </a:rPr>
              <a:t>Thresholds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for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Product</a:t>
            </a:r>
            <a:r>
              <a:rPr lang="de-DE" sz="1200" dirty="0">
                <a:solidFill>
                  <a:schemeClr val="tx2"/>
                </a:solidFill>
              </a:rPr>
              <a:t> Line“ 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287521" y="3581181"/>
            <a:ext cx="8355042" cy="406265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5. Card Charts: </a:t>
            </a:r>
            <a:r>
              <a:rPr lang="de-DE" sz="1200" dirty="0">
                <a:solidFill>
                  <a:schemeClr val="tx2"/>
                </a:solidFill>
              </a:rPr>
              <a:t>zeigen dynamisch den aktuellen Wert der </a:t>
            </a:r>
            <a:r>
              <a:rPr lang="de-DE" sz="1200" dirty="0" err="1">
                <a:solidFill>
                  <a:schemeClr val="tx2"/>
                </a:solidFill>
              </a:rPr>
              <a:t>Threshold</a:t>
            </a:r>
            <a:r>
              <a:rPr lang="de-DE" sz="1200" dirty="0">
                <a:solidFill>
                  <a:schemeClr val="tx2"/>
                </a:solidFill>
              </a:rPr>
              <a:t> an, z.B. für </a:t>
            </a:r>
            <a:r>
              <a:rPr lang="de-DE" sz="1200" dirty="0" err="1">
                <a:solidFill>
                  <a:schemeClr val="tx2"/>
                </a:solidFill>
              </a:rPr>
              <a:t>Churn</a:t>
            </a:r>
            <a:r>
              <a:rPr lang="de-DE" sz="1200" dirty="0">
                <a:solidFill>
                  <a:schemeClr val="tx2"/>
                </a:solidFill>
              </a:rPr>
              <a:t> Ratio; hierfür einfach ein neues Card Chart anlegen und die jeweilige Spalte des Parameter-Datensatzes einfügen</a:t>
            </a:r>
            <a:endParaRPr lang="de-DE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6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 – </a:t>
            </a:r>
            <a:r>
              <a:rPr lang="en-GB" dirty="0" err="1"/>
              <a:t>Erklärung</a:t>
            </a:r>
            <a:r>
              <a:rPr lang="en-GB" dirty="0"/>
              <a:t> </a:t>
            </a:r>
            <a:r>
              <a:rPr lang="en-GB" dirty="0" err="1"/>
              <a:t>Teil</a:t>
            </a:r>
            <a:r>
              <a:rPr lang="en-GB" dirty="0"/>
              <a:t> 2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DD15-A02F-49EB-BB25-B8FFF7A7CAAE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4" name="Textfeld 13"/>
          <p:cNvSpPr txBox="1"/>
          <p:nvPr/>
        </p:nvSpPr>
        <p:spPr>
          <a:xfrm>
            <a:off x="306000" y="1235890"/>
            <a:ext cx="8355042" cy="406265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5. </a:t>
            </a:r>
            <a:r>
              <a:rPr lang="de-DE" sz="1200" b="1" dirty="0" err="1">
                <a:solidFill>
                  <a:schemeClr val="tx2"/>
                </a:solidFill>
              </a:rPr>
              <a:t>Churn</a:t>
            </a:r>
            <a:r>
              <a:rPr lang="de-DE" sz="1200" b="1" dirty="0">
                <a:solidFill>
                  <a:schemeClr val="tx2"/>
                </a:solidFill>
              </a:rPr>
              <a:t> Ratio per </a:t>
            </a:r>
            <a:r>
              <a:rPr lang="de-DE" sz="1200" b="1" dirty="0" err="1">
                <a:solidFill>
                  <a:schemeClr val="tx2"/>
                </a:solidFill>
              </a:rPr>
              <a:t>year</a:t>
            </a:r>
            <a:r>
              <a:rPr lang="de-DE" sz="1200" b="1" dirty="0">
                <a:solidFill>
                  <a:schemeClr val="tx2"/>
                </a:solidFill>
              </a:rPr>
              <a:t>: </a:t>
            </a:r>
            <a:r>
              <a:rPr lang="de-DE" sz="1200" dirty="0">
                <a:solidFill>
                  <a:schemeClr val="tx2"/>
                </a:solidFill>
              </a:rPr>
              <a:t>die betrachteten Jahre sind hier nach „</a:t>
            </a:r>
            <a:r>
              <a:rPr lang="de-DE" sz="1200" dirty="0" err="1">
                <a:solidFill>
                  <a:schemeClr val="tx2"/>
                </a:solidFill>
              </a:rPr>
              <a:t>Effective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years</a:t>
            </a:r>
            <a:r>
              <a:rPr lang="de-DE" sz="1200" dirty="0">
                <a:solidFill>
                  <a:schemeClr val="tx2"/>
                </a:solidFill>
              </a:rPr>
              <a:t>“ gefiltert; </a:t>
            </a:r>
            <a:r>
              <a:rPr lang="de-DE" sz="1200" b="1" dirty="0">
                <a:solidFill>
                  <a:schemeClr val="tx2"/>
                </a:solidFill>
              </a:rPr>
              <a:t>wichtig:</a:t>
            </a:r>
            <a:r>
              <a:rPr lang="de-DE" sz="1200" dirty="0">
                <a:solidFill>
                  <a:schemeClr val="tx2"/>
                </a:solidFill>
              </a:rPr>
              <a:t> einziges Chart, das sich auf die </a:t>
            </a:r>
            <a:r>
              <a:rPr lang="de-DE" sz="1200" dirty="0" err="1">
                <a:solidFill>
                  <a:schemeClr val="tx2"/>
                </a:solidFill>
              </a:rPr>
              <a:t>monthly</a:t>
            </a:r>
            <a:r>
              <a:rPr lang="de-DE" sz="1200" dirty="0">
                <a:solidFill>
                  <a:schemeClr val="tx2"/>
                </a:solidFill>
              </a:rPr>
              <a:t> Daten bezieht 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 Möglichkeit des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Drillthrough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, um für ausgewähltes Jahr Daten auf Monatsebene zu sehen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306000" y="1954176"/>
            <a:ext cx="8355042" cy="812530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6. </a:t>
            </a:r>
            <a:r>
              <a:rPr lang="de-DE" sz="1200" b="1" dirty="0" err="1">
                <a:solidFill>
                  <a:schemeClr val="tx2"/>
                </a:solidFill>
              </a:rPr>
              <a:t>Postal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Districts</a:t>
            </a:r>
            <a:r>
              <a:rPr lang="de-DE" sz="1200" b="1" dirty="0">
                <a:solidFill>
                  <a:schemeClr val="tx2"/>
                </a:solidFill>
              </a:rPr>
              <a:t> (</a:t>
            </a:r>
            <a:r>
              <a:rPr lang="de-DE" sz="1200" b="1" dirty="0" err="1">
                <a:solidFill>
                  <a:schemeClr val="tx2"/>
                </a:solidFill>
              </a:rPr>
              <a:t>size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by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delta</a:t>
            </a:r>
            <a:r>
              <a:rPr lang="de-DE" sz="1200" b="1" dirty="0">
                <a:solidFill>
                  <a:schemeClr val="tx2"/>
                </a:solidFill>
              </a:rPr>
              <a:t>): </a:t>
            </a:r>
            <a:r>
              <a:rPr lang="de-DE" sz="1200" dirty="0">
                <a:solidFill>
                  <a:schemeClr val="tx2"/>
                </a:solidFill>
              </a:rPr>
              <a:t>hier werden die </a:t>
            </a:r>
            <a:r>
              <a:rPr lang="de-DE" sz="1200" dirty="0" err="1">
                <a:solidFill>
                  <a:schemeClr val="tx2"/>
                </a:solidFill>
              </a:rPr>
              <a:t>Postal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Districts</a:t>
            </a:r>
            <a:r>
              <a:rPr lang="de-DE" sz="1200" dirty="0">
                <a:solidFill>
                  <a:schemeClr val="tx2"/>
                </a:solidFill>
              </a:rPr>
              <a:t> nach dem Delta zwischen </a:t>
            </a:r>
            <a:r>
              <a:rPr lang="de-DE" sz="1200" dirty="0" err="1">
                <a:solidFill>
                  <a:schemeClr val="tx2"/>
                </a:solidFill>
              </a:rPr>
              <a:t>Churn</a:t>
            </a:r>
            <a:r>
              <a:rPr lang="de-DE" sz="1200" dirty="0">
                <a:solidFill>
                  <a:schemeClr val="tx2"/>
                </a:solidFill>
              </a:rPr>
              <a:t> Ratio 2017 und </a:t>
            </a:r>
            <a:r>
              <a:rPr lang="de-DE" sz="1200" dirty="0" err="1">
                <a:solidFill>
                  <a:schemeClr val="tx2"/>
                </a:solidFill>
              </a:rPr>
              <a:t>Churn</a:t>
            </a:r>
            <a:r>
              <a:rPr lang="de-DE" sz="1200" dirty="0">
                <a:solidFill>
                  <a:schemeClr val="tx2"/>
                </a:solidFill>
              </a:rPr>
              <a:t> Ratio 2018 in Basispunkten dargestellt; die </a:t>
            </a:r>
            <a:r>
              <a:rPr lang="de-DE" sz="1200" dirty="0" err="1">
                <a:solidFill>
                  <a:schemeClr val="tx2"/>
                </a:solidFill>
              </a:rPr>
              <a:t>Postal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Districts</a:t>
            </a:r>
            <a:r>
              <a:rPr lang="de-DE" sz="1200" dirty="0">
                <a:solidFill>
                  <a:schemeClr val="tx2"/>
                </a:solidFill>
              </a:rPr>
              <a:t> werden nach den „</a:t>
            </a:r>
            <a:r>
              <a:rPr lang="de-DE" sz="1200" dirty="0" err="1">
                <a:solidFill>
                  <a:schemeClr val="tx2"/>
                </a:solidFill>
              </a:rPr>
              <a:t>Thresholds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for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map</a:t>
            </a:r>
            <a:r>
              <a:rPr lang="de-DE" sz="1200" dirty="0">
                <a:solidFill>
                  <a:schemeClr val="tx2"/>
                </a:solidFill>
              </a:rPr>
              <a:t>“ gefiltert; hier ist ebenfalls ein </a:t>
            </a:r>
            <a:r>
              <a:rPr lang="de-DE" sz="1200" b="1" dirty="0" err="1">
                <a:solidFill>
                  <a:schemeClr val="tx2"/>
                </a:solidFill>
              </a:rPr>
              <a:t>Drillthrough</a:t>
            </a:r>
            <a:r>
              <a:rPr lang="de-DE" sz="1200" dirty="0">
                <a:solidFill>
                  <a:schemeClr val="tx2"/>
                </a:solidFill>
              </a:rPr>
              <a:t> möglich, um genauere Informationen zu einem bestimmten </a:t>
            </a:r>
            <a:r>
              <a:rPr lang="de-DE" sz="1200" dirty="0" err="1">
                <a:solidFill>
                  <a:schemeClr val="tx2"/>
                </a:solidFill>
              </a:rPr>
              <a:t>Postal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District</a:t>
            </a:r>
            <a:r>
              <a:rPr lang="de-DE" sz="1200" dirty="0">
                <a:solidFill>
                  <a:schemeClr val="tx2"/>
                </a:solidFill>
              </a:rPr>
              <a:t> zu erfahren; </a:t>
            </a:r>
          </a:p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Problem hier: </a:t>
            </a:r>
            <a:r>
              <a:rPr lang="de-DE" sz="1200" dirty="0">
                <a:solidFill>
                  <a:schemeClr val="tx2"/>
                </a:solidFill>
              </a:rPr>
              <a:t>Power BI </a:t>
            </a:r>
            <a:r>
              <a:rPr lang="de-DE" sz="1200" dirty="0" err="1">
                <a:solidFill>
                  <a:schemeClr val="tx2"/>
                </a:solidFill>
              </a:rPr>
              <a:t>mappt</a:t>
            </a:r>
            <a:r>
              <a:rPr lang="de-DE" sz="1200" dirty="0">
                <a:solidFill>
                  <a:schemeClr val="tx2"/>
                </a:solidFill>
              </a:rPr>
              <a:t> nicht alle </a:t>
            </a:r>
            <a:r>
              <a:rPr lang="de-DE" sz="1200" dirty="0" err="1">
                <a:solidFill>
                  <a:schemeClr val="tx2"/>
                </a:solidFill>
              </a:rPr>
              <a:t>Postal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Districts</a:t>
            </a:r>
            <a:r>
              <a:rPr lang="de-DE" sz="1200" dirty="0">
                <a:solidFill>
                  <a:schemeClr val="tx2"/>
                </a:solidFill>
              </a:rPr>
              <a:t> auf der Karte korrekt (viele nicht in Dänemark </a:t>
            </a:r>
            <a:r>
              <a:rPr lang="de-DE" sz="1200" dirty="0" err="1">
                <a:solidFill>
                  <a:schemeClr val="tx2"/>
                </a:solidFill>
              </a:rPr>
              <a:t>gemappt</a:t>
            </a:r>
            <a:r>
              <a:rPr lang="de-DE" sz="1200" dirty="0">
                <a:solidFill>
                  <a:schemeClr val="tx2"/>
                </a:solidFill>
              </a:rPr>
              <a:t>) </a:t>
            </a:r>
            <a:endParaRPr lang="de-DE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85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 Regions – </a:t>
            </a:r>
            <a:r>
              <a:rPr lang="en-GB" dirty="0" err="1"/>
              <a:t>Erklärung</a:t>
            </a:r>
            <a:endParaRPr lang="en-GB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DD15-A02F-49EB-BB25-B8FFF7A7CAAE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4" name="Textfeld 13"/>
          <p:cNvSpPr txBox="1"/>
          <p:nvPr/>
        </p:nvSpPr>
        <p:spPr>
          <a:xfrm>
            <a:off x="306000" y="1235890"/>
            <a:ext cx="8355042" cy="1218795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Unterschied zu </a:t>
            </a:r>
            <a:r>
              <a:rPr lang="de-DE" sz="1200" b="1" dirty="0" err="1">
                <a:solidFill>
                  <a:schemeClr val="tx2"/>
                </a:solidFill>
              </a:rPr>
              <a:t>Overview</a:t>
            </a:r>
            <a:r>
              <a:rPr lang="de-DE" sz="1200" b="1" dirty="0">
                <a:solidFill>
                  <a:schemeClr val="tx2"/>
                </a:solidFill>
              </a:rPr>
              <a:t>: </a:t>
            </a:r>
            <a:r>
              <a:rPr lang="de-DE" sz="1200" dirty="0">
                <a:solidFill>
                  <a:schemeClr val="tx2"/>
                </a:solidFill>
              </a:rPr>
              <a:t>In der </a:t>
            </a:r>
            <a:r>
              <a:rPr lang="de-DE" sz="1200" dirty="0" err="1">
                <a:solidFill>
                  <a:schemeClr val="tx2"/>
                </a:solidFill>
              </a:rPr>
              <a:t>Map</a:t>
            </a:r>
            <a:r>
              <a:rPr lang="de-DE" sz="1200" dirty="0">
                <a:solidFill>
                  <a:schemeClr val="tx2"/>
                </a:solidFill>
              </a:rPr>
              <a:t> sind nicht die einzelnen </a:t>
            </a:r>
            <a:r>
              <a:rPr lang="de-DE" sz="1200" dirty="0" err="1">
                <a:solidFill>
                  <a:schemeClr val="tx2"/>
                </a:solidFill>
              </a:rPr>
              <a:t>Postal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Districts</a:t>
            </a:r>
            <a:r>
              <a:rPr lang="de-DE" sz="1200" dirty="0">
                <a:solidFill>
                  <a:schemeClr val="tx2"/>
                </a:solidFill>
              </a:rPr>
              <a:t>, sondern die 5 Regionen in Dänemark dargestellt; diese sind außerdem nicht als Kreise, sondern als eingefärbte Regionen (Farbe nach </a:t>
            </a:r>
            <a:r>
              <a:rPr lang="de-DE" sz="1200" dirty="0" err="1">
                <a:solidFill>
                  <a:schemeClr val="tx2"/>
                </a:solidFill>
              </a:rPr>
              <a:t>Churn</a:t>
            </a:r>
            <a:r>
              <a:rPr lang="de-DE" sz="1200" dirty="0">
                <a:solidFill>
                  <a:schemeClr val="tx2"/>
                </a:solidFill>
              </a:rPr>
              <a:t> Ratio) dargestellt*; hierfür musste eine neue Spalte </a:t>
            </a:r>
            <a:r>
              <a:rPr lang="de-DE" sz="1200" dirty="0" err="1">
                <a:solidFill>
                  <a:schemeClr val="tx2"/>
                </a:solidFill>
              </a:rPr>
              <a:t>Regions</a:t>
            </a:r>
            <a:r>
              <a:rPr lang="de-DE" sz="1200" dirty="0">
                <a:solidFill>
                  <a:schemeClr val="tx2"/>
                </a:solidFill>
              </a:rPr>
              <a:t> im Datensatz angefügt werden, der die </a:t>
            </a:r>
            <a:r>
              <a:rPr lang="de-DE" sz="1200" dirty="0" err="1">
                <a:solidFill>
                  <a:schemeClr val="tx2"/>
                </a:solidFill>
              </a:rPr>
              <a:t>LongLat</a:t>
            </a:r>
            <a:r>
              <a:rPr lang="de-DE" sz="1200" dirty="0">
                <a:solidFill>
                  <a:schemeClr val="tx2"/>
                </a:solidFill>
              </a:rPr>
              <a:t> Daten auf die jeweilige Region </a:t>
            </a:r>
            <a:r>
              <a:rPr lang="de-DE" sz="1200" dirty="0" err="1">
                <a:solidFill>
                  <a:schemeClr val="tx2"/>
                </a:solidFill>
              </a:rPr>
              <a:t>mappt</a:t>
            </a:r>
            <a:r>
              <a:rPr lang="de-DE" sz="1200" dirty="0">
                <a:solidFill>
                  <a:schemeClr val="tx2"/>
                </a:solidFill>
              </a:rPr>
              <a:t>; dieses Mapping wurde vorerst „händisch“ gemacht, da das exakte Mapping der </a:t>
            </a:r>
            <a:r>
              <a:rPr lang="de-DE" sz="1200" dirty="0" err="1">
                <a:solidFill>
                  <a:schemeClr val="tx2"/>
                </a:solidFill>
              </a:rPr>
              <a:t>LongLat</a:t>
            </a:r>
            <a:r>
              <a:rPr lang="de-DE" sz="1200" dirty="0">
                <a:solidFill>
                  <a:schemeClr val="tx2"/>
                </a:solidFill>
              </a:rPr>
              <a:t> Daten auf </a:t>
            </a:r>
            <a:r>
              <a:rPr lang="de-DE" sz="1200" dirty="0" err="1">
                <a:solidFill>
                  <a:schemeClr val="tx2"/>
                </a:solidFill>
              </a:rPr>
              <a:t>Regions</a:t>
            </a:r>
            <a:r>
              <a:rPr lang="de-DE" sz="1200" dirty="0">
                <a:solidFill>
                  <a:schemeClr val="tx2"/>
                </a:solidFill>
              </a:rPr>
              <a:t>/</a:t>
            </a:r>
            <a:r>
              <a:rPr lang="de-DE" sz="1200" dirty="0" err="1">
                <a:solidFill>
                  <a:schemeClr val="tx2"/>
                </a:solidFill>
              </a:rPr>
              <a:t>Municipalities</a:t>
            </a:r>
            <a:r>
              <a:rPr lang="de-DE" sz="1200" dirty="0">
                <a:solidFill>
                  <a:schemeClr val="tx2"/>
                </a:solidFill>
              </a:rPr>
              <a:t>/</a:t>
            </a:r>
            <a:r>
              <a:rPr lang="de-DE" sz="1200" dirty="0" err="1">
                <a:solidFill>
                  <a:schemeClr val="tx2"/>
                </a:solidFill>
              </a:rPr>
              <a:t>Postal</a:t>
            </a:r>
            <a:r>
              <a:rPr lang="de-DE" sz="1200" dirty="0">
                <a:solidFill>
                  <a:schemeClr val="tx2"/>
                </a:solidFill>
              </a:rPr>
              <a:t> </a:t>
            </a:r>
            <a:r>
              <a:rPr lang="de-DE" sz="1200" dirty="0" err="1">
                <a:solidFill>
                  <a:schemeClr val="tx2"/>
                </a:solidFill>
              </a:rPr>
              <a:t>Districts</a:t>
            </a:r>
            <a:r>
              <a:rPr lang="de-DE" sz="1200" dirty="0">
                <a:solidFill>
                  <a:schemeClr val="tx2"/>
                </a:solidFill>
              </a:rPr>
              <a:t> im Moment noch nicht möglich ist; auch hier besteht eine </a:t>
            </a:r>
            <a:r>
              <a:rPr lang="de-DE" sz="1200" dirty="0" err="1">
                <a:solidFill>
                  <a:schemeClr val="tx2"/>
                </a:solidFill>
              </a:rPr>
              <a:t>Drillthrough</a:t>
            </a:r>
            <a:r>
              <a:rPr lang="de-DE" sz="1200" dirty="0">
                <a:solidFill>
                  <a:schemeClr val="tx2"/>
                </a:solidFill>
              </a:rPr>
              <a:t> Funktion, um genauere Information über die gewünschte Region zu erfahren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299561" y="4543874"/>
            <a:ext cx="7991341" cy="30469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* </a:t>
            </a:r>
            <a:r>
              <a:rPr lang="de-DE" sz="900" dirty="0" err="1">
                <a:solidFill>
                  <a:schemeClr val="tx2"/>
                </a:solidFill>
                <a:sym typeface="Wingdings" panose="05000000000000000000" pitchFamily="2" charset="2"/>
              </a:rPr>
              <a:t>HowTo</a:t>
            </a: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: Neue „</a:t>
            </a:r>
            <a:r>
              <a:rPr lang="de-DE" sz="900" dirty="0" err="1">
                <a:solidFill>
                  <a:schemeClr val="tx2"/>
                </a:solidFill>
                <a:sym typeface="Wingdings" panose="05000000000000000000" pitchFamily="2" charset="2"/>
              </a:rPr>
              <a:t>Filled</a:t>
            </a: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900" dirty="0" err="1">
                <a:solidFill>
                  <a:schemeClr val="tx2"/>
                </a:solidFill>
                <a:sym typeface="Wingdings" panose="05000000000000000000" pitchFamily="2" charset="2"/>
              </a:rPr>
              <a:t>Map</a:t>
            </a: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“ anlegen mit der Spalte </a:t>
            </a:r>
            <a:r>
              <a:rPr lang="de-DE" sz="900" dirty="0" err="1">
                <a:solidFill>
                  <a:schemeClr val="tx2"/>
                </a:solidFill>
                <a:sym typeface="Wingdings" panose="05000000000000000000" pitchFamily="2" charset="2"/>
              </a:rPr>
              <a:t>Regions</a:t>
            </a: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 als „Location“; anschließend unter „Data Colors“ -&gt; „</a:t>
            </a:r>
            <a:r>
              <a:rPr lang="de-DE" sz="900" dirty="0" err="1">
                <a:solidFill>
                  <a:schemeClr val="tx2"/>
                </a:solidFill>
                <a:sym typeface="Wingdings" panose="05000000000000000000" pitchFamily="2" charset="2"/>
              </a:rPr>
              <a:t>Adavanced</a:t>
            </a: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 Controls“ angeben, nach welchem </a:t>
            </a:r>
            <a:r>
              <a:rPr lang="de-DE" sz="900" dirty="0" err="1">
                <a:solidFill>
                  <a:schemeClr val="tx2"/>
                </a:solidFill>
                <a:sym typeface="Wingdings" panose="05000000000000000000" pitchFamily="2" charset="2"/>
              </a:rPr>
              <a:t>Measure</a:t>
            </a: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 eingefärbt werden soll, in diesem also nach </a:t>
            </a:r>
            <a:r>
              <a:rPr lang="de-DE" sz="900" dirty="0" err="1">
                <a:solidFill>
                  <a:schemeClr val="tx2"/>
                </a:solidFill>
                <a:sym typeface="Wingdings" panose="05000000000000000000" pitchFamily="2" charset="2"/>
              </a:rPr>
              <a:t>Churn</a:t>
            </a:r>
            <a:r>
              <a:rPr lang="de-DE" sz="900" dirty="0">
                <a:solidFill>
                  <a:schemeClr val="tx2"/>
                </a:solidFill>
                <a:sym typeface="Wingdings" panose="05000000000000000000" pitchFamily="2" charset="2"/>
              </a:rPr>
              <a:t> Ratio</a:t>
            </a:r>
          </a:p>
        </p:txBody>
      </p:sp>
    </p:spTree>
    <p:extLst>
      <p:ext uri="{BB962C8B-B14F-4D97-AF65-F5344CB8AC3E}">
        <p14:creationId xmlns:p14="http://schemas.microsoft.com/office/powerpoint/2010/main" val="132459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Drillthrough</a:t>
            </a:r>
            <a:r>
              <a:rPr lang="en-GB" dirty="0"/>
              <a:t> Postal District - </a:t>
            </a:r>
            <a:r>
              <a:rPr lang="en-GB" dirty="0" err="1"/>
              <a:t>Erklärung</a:t>
            </a:r>
            <a:endParaRPr lang="en-GB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DD15-A02F-49EB-BB25-B8FFF7A7CAAE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8" name="Textfeld 7"/>
          <p:cNvSpPr txBox="1"/>
          <p:nvPr/>
        </p:nvSpPr>
        <p:spPr>
          <a:xfrm>
            <a:off x="287521" y="1801781"/>
            <a:ext cx="8355042" cy="203133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2. </a:t>
            </a:r>
            <a:r>
              <a:rPr lang="de-DE" sz="1200" b="1" dirty="0" err="1">
                <a:solidFill>
                  <a:schemeClr val="tx2"/>
                </a:solidFill>
              </a:rPr>
              <a:t>Churn</a:t>
            </a:r>
            <a:r>
              <a:rPr lang="de-DE" sz="1200" b="1" dirty="0">
                <a:solidFill>
                  <a:schemeClr val="tx2"/>
                </a:solidFill>
              </a:rPr>
              <a:t> Ratio </a:t>
            </a:r>
            <a:r>
              <a:rPr lang="de-DE" sz="1200" b="1" dirty="0" err="1">
                <a:solidFill>
                  <a:schemeClr val="tx2"/>
                </a:solidFill>
              </a:rPr>
              <a:t>by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policy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owner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age</a:t>
            </a:r>
            <a:r>
              <a:rPr lang="de-DE" sz="1200" b="1" dirty="0">
                <a:solidFill>
                  <a:schemeClr val="tx2"/>
                </a:solidFill>
              </a:rPr>
              <a:t>: 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gibt für den betrachteten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Postal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District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die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Churn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Ratio pro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Policy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owner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age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an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287521" y="2164540"/>
            <a:ext cx="8355042" cy="203133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3. </a:t>
            </a:r>
            <a:r>
              <a:rPr lang="de-DE" sz="1200" b="1" dirty="0" err="1">
                <a:solidFill>
                  <a:schemeClr val="tx2"/>
                </a:solidFill>
              </a:rPr>
              <a:t>Raw</a:t>
            </a:r>
            <a:r>
              <a:rPr lang="de-DE" sz="1200" b="1" dirty="0">
                <a:solidFill>
                  <a:schemeClr val="tx2"/>
                </a:solidFill>
              </a:rPr>
              <a:t> Data: 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Rohdaten (ausgewählte Spalten) für betrachteten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Postal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District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(auf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annually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basis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) 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287521" y="3071401"/>
            <a:ext cx="8355042" cy="609398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Die Filterungen zwischen </a:t>
            </a:r>
            <a:r>
              <a:rPr lang="de-DE" sz="1200" b="1" dirty="0" err="1">
                <a:solidFill>
                  <a:schemeClr val="tx2"/>
                </a:solidFill>
              </a:rPr>
              <a:t>Slicern</a:t>
            </a:r>
            <a:r>
              <a:rPr lang="de-DE" sz="1200" b="1" dirty="0">
                <a:solidFill>
                  <a:schemeClr val="tx2"/>
                </a:solidFill>
              </a:rPr>
              <a:t> und Charts untereinander können über „Edit Interactions“ unter „Format“ noch beliebig angepasst werden! </a:t>
            </a:r>
            <a:r>
              <a:rPr lang="de-DE" sz="1200" b="1" dirty="0">
                <a:solidFill>
                  <a:schemeClr val="tx2"/>
                </a:solidFill>
                <a:sym typeface="Wingdings" panose="05000000000000000000" pitchFamily="2" charset="2"/>
              </a:rPr>
              <a:t> auch </a:t>
            </a:r>
            <a:r>
              <a:rPr lang="de-DE" sz="1200" b="1" dirty="0" err="1">
                <a:solidFill>
                  <a:schemeClr val="tx2"/>
                </a:solidFill>
                <a:sym typeface="Wingdings" panose="05000000000000000000" pitchFamily="2" charset="2"/>
              </a:rPr>
              <a:t>Highlighting</a:t>
            </a:r>
            <a:r>
              <a:rPr lang="de-DE" sz="1200" b="1" dirty="0">
                <a:solidFill>
                  <a:schemeClr val="tx2"/>
                </a:solidFill>
                <a:sym typeface="Wingdings" panose="05000000000000000000" pitchFamily="2" charset="2"/>
              </a:rPr>
              <a:t> durch gegenseitiges Filtern der Charts (gerade bei Bar Charts) sehr interessant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287521" y="1235890"/>
            <a:ext cx="8355042" cy="406265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1. Dynamischer </a:t>
            </a:r>
            <a:r>
              <a:rPr lang="de-DE" sz="1200" b="1" dirty="0" err="1">
                <a:solidFill>
                  <a:schemeClr val="tx2"/>
                </a:solidFill>
              </a:rPr>
              <a:t>Postal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District</a:t>
            </a:r>
            <a:r>
              <a:rPr lang="de-DE" sz="1200" b="1" dirty="0">
                <a:solidFill>
                  <a:schemeClr val="tx2"/>
                </a:solidFill>
              </a:rPr>
              <a:t> (</a:t>
            </a:r>
            <a:r>
              <a:rPr lang="de-DE" sz="1200" b="1" dirty="0" err="1">
                <a:solidFill>
                  <a:schemeClr val="tx2"/>
                </a:solidFill>
              </a:rPr>
              <a:t>l.o</a:t>
            </a:r>
            <a:r>
              <a:rPr lang="de-DE" sz="1200" b="1" dirty="0">
                <a:solidFill>
                  <a:schemeClr val="tx2"/>
                </a:solidFill>
              </a:rPr>
              <a:t>.): 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gibt den betrachteten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Postal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District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an (in den in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Overview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„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gedrilled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“ wurde); ein Card Chart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87521" y="3881235"/>
            <a:ext cx="8355042" cy="609398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Auch zusätzliche </a:t>
            </a:r>
            <a:r>
              <a:rPr lang="de-DE" sz="1200" b="1" dirty="0" err="1">
                <a:solidFill>
                  <a:schemeClr val="tx2"/>
                </a:solidFill>
              </a:rPr>
              <a:t>Tooltips</a:t>
            </a:r>
            <a:r>
              <a:rPr lang="de-DE" sz="1200" b="1" dirty="0">
                <a:solidFill>
                  <a:schemeClr val="tx2"/>
                </a:solidFill>
              </a:rPr>
              <a:t> (z.B. </a:t>
            </a:r>
            <a:r>
              <a:rPr lang="de-DE" sz="1200" b="1" dirty="0" err="1">
                <a:solidFill>
                  <a:schemeClr val="tx2"/>
                </a:solidFill>
              </a:rPr>
              <a:t>Number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of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Churns</a:t>
            </a:r>
            <a:r>
              <a:rPr lang="de-DE" sz="1200" b="1" dirty="0">
                <a:solidFill>
                  <a:schemeClr val="tx2"/>
                </a:solidFill>
              </a:rPr>
              <a:t> als zusätzliche Information) können bei Charts noch beliebig eingefügt werden! </a:t>
            </a:r>
            <a:r>
              <a:rPr lang="de-DE" sz="1200" b="1" dirty="0">
                <a:solidFill>
                  <a:schemeClr val="tx2"/>
                </a:solidFill>
                <a:sym typeface="Wingdings" panose="05000000000000000000" pitchFamily="2" charset="2"/>
              </a:rPr>
              <a:t> </a:t>
            </a:r>
            <a:r>
              <a:rPr lang="de-DE" sz="1200" i="1" dirty="0">
                <a:solidFill>
                  <a:schemeClr val="tx2"/>
                </a:solidFill>
                <a:sym typeface="Wingdings" panose="05000000000000000000" pitchFamily="2" charset="2"/>
              </a:rPr>
              <a:t>Chart anklicken und unter </a:t>
            </a:r>
            <a:r>
              <a:rPr lang="de-DE" sz="1200" i="1" dirty="0" err="1">
                <a:solidFill>
                  <a:schemeClr val="tx2"/>
                </a:solidFill>
                <a:sym typeface="Wingdings" panose="05000000000000000000" pitchFamily="2" charset="2"/>
              </a:rPr>
              <a:t>Visualizations</a:t>
            </a:r>
            <a:r>
              <a:rPr lang="de-DE" sz="1200" i="1" dirty="0">
                <a:solidFill>
                  <a:schemeClr val="tx2"/>
                </a:solidFill>
                <a:sym typeface="Wingdings" panose="05000000000000000000" pitchFamily="2" charset="2"/>
              </a:rPr>
              <a:t> auf der rechten Seite gewünschte Zusatzinformation in das Feld „</a:t>
            </a:r>
            <a:r>
              <a:rPr lang="de-DE" sz="1200" i="1" dirty="0" err="1">
                <a:solidFill>
                  <a:schemeClr val="tx2"/>
                </a:solidFill>
                <a:sym typeface="Wingdings" panose="05000000000000000000" pitchFamily="2" charset="2"/>
              </a:rPr>
              <a:t>Tooltips</a:t>
            </a:r>
            <a:r>
              <a:rPr lang="de-DE" sz="1200" i="1" dirty="0">
                <a:solidFill>
                  <a:schemeClr val="tx2"/>
                </a:solidFill>
                <a:sym typeface="Wingdings" panose="05000000000000000000" pitchFamily="2" charset="2"/>
              </a:rPr>
              <a:t>“ ziehen</a:t>
            </a:r>
            <a:endParaRPr lang="de-DE" sz="12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71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Drillthrough</a:t>
            </a:r>
            <a:r>
              <a:rPr lang="en-GB" dirty="0"/>
              <a:t> Regions- </a:t>
            </a:r>
            <a:r>
              <a:rPr lang="en-GB" dirty="0" err="1"/>
              <a:t>Erklärung</a:t>
            </a:r>
            <a:endParaRPr lang="en-GB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DD15-A02F-49EB-BB25-B8FFF7A7CAAE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1" name="Textfeld 10"/>
          <p:cNvSpPr txBox="1"/>
          <p:nvPr/>
        </p:nvSpPr>
        <p:spPr>
          <a:xfrm>
            <a:off x="306000" y="1660893"/>
            <a:ext cx="8355042" cy="406265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Analog zu </a:t>
            </a:r>
            <a:r>
              <a:rPr lang="de-DE" sz="1200" b="1" dirty="0" err="1">
                <a:solidFill>
                  <a:schemeClr val="tx2"/>
                </a:solidFill>
              </a:rPr>
              <a:t>Drillthrough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Postal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District</a:t>
            </a:r>
            <a:r>
              <a:rPr lang="de-DE" sz="1200" b="1" dirty="0">
                <a:solidFill>
                  <a:schemeClr val="tx2"/>
                </a:solidFill>
              </a:rPr>
              <a:t> können wir hier detaillierte Informationen zu einer bestimmten Region abrufen</a:t>
            </a:r>
          </a:p>
        </p:txBody>
      </p:sp>
    </p:spTree>
    <p:extLst>
      <p:ext uri="{BB962C8B-B14F-4D97-AF65-F5344CB8AC3E}">
        <p14:creationId xmlns:p14="http://schemas.microsoft.com/office/powerpoint/2010/main" val="383232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Drillthrough</a:t>
            </a:r>
            <a:r>
              <a:rPr lang="en-GB" dirty="0"/>
              <a:t> year - </a:t>
            </a:r>
            <a:r>
              <a:rPr lang="en-GB" dirty="0" err="1"/>
              <a:t>Erklärung</a:t>
            </a:r>
            <a:endParaRPr lang="en-GB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DD15-A02F-49EB-BB25-B8FFF7A7CAAE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8" name="Textfeld 7"/>
          <p:cNvSpPr txBox="1"/>
          <p:nvPr/>
        </p:nvSpPr>
        <p:spPr>
          <a:xfrm>
            <a:off x="306000" y="1598492"/>
            <a:ext cx="8355042" cy="609398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2. </a:t>
            </a:r>
            <a:r>
              <a:rPr lang="de-DE" sz="1200" b="1" dirty="0" err="1">
                <a:solidFill>
                  <a:schemeClr val="tx2"/>
                </a:solidFill>
              </a:rPr>
              <a:t>Number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of</a:t>
            </a:r>
            <a:r>
              <a:rPr lang="de-DE" sz="1200" b="1" dirty="0">
                <a:solidFill>
                  <a:schemeClr val="tx2"/>
                </a:solidFill>
              </a:rPr>
              <a:t> </a:t>
            </a:r>
            <a:r>
              <a:rPr lang="de-DE" sz="1200" b="1" dirty="0" err="1">
                <a:solidFill>
                  <a:schemeClr val="tx2"/>
                </a:solidFill>
              </a:rPr>
              <a:t>Churns</a:t>
            </a:r>
            <a:r>
              <a:rPr lang="de-DE" sz="1200" b="1" dirty="0">
                <a:solidFill>
                  <a:schemeClr val="tx2"/>
                </a:solidFill>
              </a:rPr>
              <a:t> per </a:t>
            </a:r>
            <a:r>
              <a:rPr lang="de-DE" sz="1200" b="1" dirty="0" err="1">
                <a:solidFill>
                  <a:schemeClr val="tx2"/>
                </a:solidFill>
              </a:rPr>
              <a:t>month</a:t>
            </a:r>
            <a:r>
              <a:rPr lang="de-DE" sz="1200" b="1" dirty="0">
                <a:solidFill>
                  <a:schemeClr val="tx2"/>
                </a:solidFill>
              </a:rPr>
              <a:t>: 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gibt für das betrachtete Jahr die Anzahl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Churns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pro Monat wieder  damit kann also in die Monate gedrillt werden (deswegen benötigen wir die Daten auf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monthly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Ebene)  </a:t>
            </a:r>
            <a:r>
              <a:rPr lang="de-DE" sz="1200" u="sng" dirty="0">
                <a:solidFill>
                  <a:schemeClr val="tx2"/>
                </a:solidFill>
                <a:sym typeface="Wingdings" panose="05000000000000000000" pitchFamily="2" charset="2"/>
              </a:rPr>
              <a:t>Beantwortung der Frage: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Wurde in bestimmten Monaten besonders viel/wenig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gechurnt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?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306000" y="2355882"/>
            <a:ext cx="8355042" cy="203133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3. </a:t>
            </a:r>
            <a:r>
              <a:rPr lang="de-DE" sz="1200" b="1" dirty="0" err="1">
                <a:solidFill>
                  <a:schemeClr val="tx2"/>
                </a:solidFill>
              </a:rPr>
              <a:t>Churn</a:t>
            </a:r>
            <a:r>
              <a:rPr lang="de-DE" sz="1200" b="1" dirty="0">
                <a:solidFill>
                  <a:schemeClr val="tx2"/>
                </a:solidFill>
              </a:rPr>
              <a:t> Ratio per </a:t>
            </a:r>
            <a:r>
              <a:rPr lang="de-DE" sz="1200" b="1" dirty="0" err="1">
                <a:solidFill>
                  <a:schemeClr val="tx2"/>
                </a:solidFill>
              </a:rPr>
              <a:t>Owner</a:t>
            </a:r>
            <a:r>
              <a:rPr lang="de-DE" sz="1200" b="1" dirty="0">
                <a:solidFill>
                  <a:schemeClr val="tx2"/>
                </a:solidFill>
              </a:rPr>
              <a:t> type: 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kann durch „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Product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Lines“ und „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Policy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Owner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age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“ gefiltert werden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306000" y="2800404"/>
            <a:ext cx="8355042" cy="203133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4. </a:t>
            </a:r>
            <a:r>
              <a:rPr lang="de-DE" sz="1200" b="1" dirty="0" err="1">
                <a:solidFill>
                  <a:schemeClr val="tx2"/>
                </a:solidFill>
              </a:rPr>
              <a:t>Churn</a:t>
            </a:r>
            <a:r>
              <a:rPr lang="de-DE" sz="1200" b="1" dirty="0">
                <a:solidFill>
                  <a:schemeClr val="tx2"/>
                </a:solidFill>
              </a:rPr>
              <a:t> Ratio per </a:t>
            </a:r>
            <a:r>
              <a:rPr lang="de-DE" sz="1200" b="1" dirty="0" err="1">
                <a:solidFill>
                  <a:schemeClr val="tx2"/>
                </a:solidFill>
              </a:rPr>
              <a:t>Product</a:t>
            </a:r>
            <a:r>
              <a:rPr lang="de-DE" sz="1200" b="1" dirty="0">
                <a:solidFill>
                  <a:schemeClr val="tx2"/>
                </a:solidFill>
              </a:rPr>
              <a:t> Line: 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kann durch „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Product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Lines“ und „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Policy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Owner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age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“ gefiltert werden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306000" y="1235890"/>
            <a:ext cx="8355042" cy="203133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1. Dynamische Jahreszahl (</a:t>
            </a:r>
            <a:r>
              <a:rPr lang="de-DE" sz="1200" b="1" dirty="0" err="1">
                <a:solidFill>
                  <a:schemeClr val="tx2"/>
                </a:solidFill>
              </a:rPr>
              <a:t>l.o</a:t>
            </a:r>
            <a:r>
              <a:rPr lang="de-DE" sz="1200" b="1" dirty="0">
                <a:solidFill>
                  <a:schemeClr val="tx2"/>
                </a:solidFill>
              </a:rPr>
              <a:t>.): 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gibt das betrachtete Jahr an (in das in der 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Overview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 „</a:t>
            </a:r>
            <a:r>
              <a:rPr lang="de-DE" sz="1200" dirty="0" err="1">
                <a:solidFill>
                  <a:schemeClr val="tx2"/>
                </a:solidFill>
                <a:sym typeface="Wingdings" panose="05000000000000000000" pitchFamily="2" charset="2"/>
              </a:rPr>
              <a:t>gedrilled</a:t>
            </a:r>
            <a:r>
              <a:rPr lang="de-DE" sz="1200" dirty="0">
                <a:solidFill>
                  <a:schemeClr val="tx2"/>
                </a:solidFill>
                <a:sym typeface="Wingdings" panose="05000000000000000000" pitchFamily="2" charset="2"/>
              </a:rPr>
              <a:t>“ wurde); ein Card Chart</a:t>
            </a:r>
            <a:endParaRPr lang="de-DE" sz="1200" b="1" dirty="0">
              <a:solidFill>
                <a:schemeClr val="tx2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306000" y="3411195"/>
            <a:ext cx="8355042" cy="390556"/>
          </a:xfrm>
          <a:prstGeom prst="rect">
            <a:avLst/>
          </a:prstGeom>
          <a:noFill/>
          <a:ln w="3175">
            <a:solidFill>
              <a:schemeClr val="tx1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200" b="1" dirty="0">
                <a:solidFill>
                  <a:schemeClr val="tx2"/>
                </a:solidFill>
              </a:rPr>
              <a:t>Die Filterungen zwischen </a:t>
            </a:r>
            <a:r>
              <a:rPr lang="de-DE" sz="1200" b="1" dirty="0" err="1">
                <a:solidFill>
                  <a:schemeClr val="tx2"/>
                </a:solidFill>
              </a:rPr>
              <a:t>Slicern</a:t>
            </a:r>
            <a:r>
              <a:rPr lang="de-DE" sz="1200" b="1" dirty="0">
                <a:solidFill>
                  <a:schemeClr val="tx2"/>
                </a:solidFill>
              </a:rPr>
              <a:t> und Charts untereinander können über „Edit Interactions“ unter „Format“ noch beliebig angepasst werden!</a:t>
            </a:r>
          </a:p>
        </p:txBody>
      </p:sp>
    </p:spTree>
    <p:extLst>
      <p:ext uri="{BB962C8B-B14F-4D97-AF65-F5344CB8AC3E}">
        <p14:creationId xmlns:p14="http://schemas.microsoft.com/office/powerpoint/2010/main" val="12768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Erstellung</a:t>
            </a:r>
            <a:r>
              <a:rPr lang="en-GB" dirty="0"/>
              <a:t> von basic Measures 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DD15-A02F-49EB-BB25-B8FFF7A7CAAE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0" name="Textfeld 9"/>
          <p:cNvSpPr txBox="1"/>
          <p:nvPr/>
        </p:nvSpPr>
        <p:spPr>
          <a:xfrm>
            <a:off x="305999" y="2571294"/>
            <a:ext cx="8355042" cy="218586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400" b="1" u="sng" dirty="0" err="1">
                <a:solidFill>
                  <a:schemeClr val="tx2"/>
                </a:solidFill>
              </a:rPr>
              <a:t>Churn</a:t>
            </a:r>
            <a:r>
              <a:rPr lang="de-DE" sz="1400" b="1" u="sng" dirty="0">
                <a:solidFill>
                  <a:schemeClr val="tx2"/>
                </a:solidFill>
              </a:rPr>
              <a:t> Ratio:</a:t>
            </a:r>
            <a:endParaRPr lang="en-US" sz="1400" u="sng" dirty="0" err="1">
              <a:solidFill>
                <a:schemeClr val="tx2"/>
              </a:solidFill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306000" y="2845888"/>
            <a:ext cx="3670686" cy="236988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2"/>
                </a:solidFill>
              </a:rPr>
              <a:t>Churn Ratio = </a:t>
            </a:r>
            <a:r>
              <a:rPr lang="en-US" sz="1400" dirty="0">
                <a:solidFill>
                  <a:schemeClr val="accent5"/>
                </a:solidFill>
              </a:rPr>
              <a:t>DIVIDE</a:t>
            </a:r>
            <a:r>
              <a:rPr lang="en-US" sz="1400" dirty="0">
                <a:solidFill>
                  <a:schemeClr val="tx2"/>
                </a:solidFill>
              </a:rPr>
              <a:t>([</a:t>
            </a:r>
            <a:r>
              <a:rPr lang="en-US" sz="1400" dirty="0">
                <a:solidFill>
                  <a:schemeClr val="accent6"/>
                </a:solidFill>
              </a:rPr>
              <a:t>#Churns</a:t>
            </a:r>
            <a:r>
              <a:rPr lang="en-US" sz="1400" dirty="0">
                <a:solidFill>
                  <a:schemeClr val="tx2"/>
                </a:solidFill>
              </a:rPr>
              <a:t>];[</a:t>
            </a:r>
            <a:r>
              <a:rPr lang="en-US" sz="1400" dirty="0">
                <a:solidFill>
                  <a:schemeClr val="accent6"/>
                </a:solidFill>
              </a:rPr>
              <a:t>#Policies</a:t>
            </a:r>
            <a:r>
              <a:rPr lang="en-US" sz="1400" dirty="0">
                <a:solidFill>
                  <a:schemeClr val="tx2"/>
                </a:solidFill>
              </a:rPr>
              <a:t>])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306000" y="1150863"/>
            <a:ext cx="1117115" cy="23698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400" b="1" u="sng" dirty="0">
                <a:solidFill>
                  <a:schemeClr val="tx2"/>
                </a:solidFill>
              </a:rPr>
              <a:t>#</a:t>
            </a:r>
            <a:r>
              <a:rPr lang="de-DE" sz="1400" b="1" u="sng" dirty="0" err="1">
                <a:solidFill>
                  <a:schemeClr val="tx2"/>
                </a:solidFill>
              </a:rPr>
              <a:t>Policies</a:t>
            </a:r>
            <a:r>
              <a:rPr lang="de-DE" sz="1400" b="1" u="sng" dirty="0">
                <a:solidFill>
                  <a:schemeClr val="tx2"/>
                </a:solidFill>
              </a:rPr>
              <a:t>:</a:t>
            </a:r>
            <a:endParaRPr lang="en-US" sz="1400" u="sng" dirty="0" err="1">
              <a:solidFill>
                <a:schemeClr val="tx2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306000" y="1444821"/>
            <a:ext cx="7382687" cy="236988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2"/>
                </a:solidFill>
              </a:rPr>
              <a:t>#Policies = </a:t>
            </a:r>
            <a:r>
              <a:rPr lang="en-US" sz="1400" dirty="0">
                <a:solidFill>
                  <a:schemeClr val="accent5"/>
                </a:solidFill>
              </a:rPr>
              <a:t>COUNT</a:t>
            </a:r>
            <a:r>
              <a:rPr lang="en-US" sz="1400" dirty="0">
                <a:solidFill>
                  <a:schemeClr val="tx2"/>
                </a:solidFill>
              </a:rPr>
              <a:t>('</a:t>
            </a:r>
            <a:r>
              <a:rPr lang="en-US" sz="1400" dirty="0" err="1">
                <a:solidFill>
                  <a:schemeClr val="tx2"/>
                </a:solidFill>
              </a:rPr>
              <a:t>CLIENT_ABT_work</a:t>
            </a:r>
            <a:r>
              <a:rPr lang="en-US" sz="1400" dirty="0">
                <a:solidFill>
                  <a:schemeClr val="tx2"/>
                </a:solidFill>
              </a:rPr>
              <a:t> KF_MT1_Annually_v02_beta'[</a:t>
            </a:r>
            <a:r>
              <a:rPr lang="en-US" sz="1400" dirty="0" err="1">
                <a:solidFill>
                  <a:schemeClr val="tx2"/>
                </a:solidFill>
              </a:rPr>
              <a:t>PolicyLineID</a:t>
            </a:r>
            <a:r>
              <a:rPr lang="en-US" sz="1400" dirty="0">
                <a:solidFill>
                  <a:schemeClr val="tx2"/>
                </a:solidFill>
              </a:rPr>
              <a:t>])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305999" y="1848916"/>
            <a:ext cx="1117115" cy="218586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400" b="1" u="sng" dirty="0">
                <a:solidFill>
                  <a:schemeClr val="tx2"/>
                </a:solidFill>
              </a:rPr>
              <a:t>#</a:t>
            </a:r>
            <a:r>
              <a:rPr lang="de-DE" sz="1400" b="1" u="sng" dirty="0" err="1">
                <a:solidFill>
                  <a:schemeClr val="tx2"/>
                </a:solidFill>
              </a:rPr>
              <a:t>Churns</a:t>
            </a:r>
            <a:r>
              <a:rPr lang="de-DE" sz="1400" b="1" u="sng" dirty="0">
                <a:solidFill>
                  <a:schemeClr val="tx2"/>
                </a:solidFill>
              </a:rPr>
              <a:t>:</a:t>
            </a:r>
            <a:endParaRPr lang="en-US" sz="1400" u="sng" dirty="0" err="1">
              <a:solidFill>
                <a:schemeClr val="tx2"/>
              </a:solidFill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306000" y="2117624"/>
            <a:ext cx="7382687" cy="236988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2"/>
                </a:solidFill>
              </a:rPr>
              <a:t>#Churns = </a:t>
            </a:r>
            <a:r>
              <a:rPr lang="en-US" sz="1400" dirty="0">
                <a:solidFill>
                  <a:schemeClr val="accent5"/>
                </a:solidFill>
              </a:rPr>
              <a:t>SUM</a:t>
            </a:r>
            <a:r>
              <a:rPr lang="en-US" sz="1400" dirty="0">
                <a:solidFill>
                  <a:schemeClr val="tx2"/>
                </a:solidFill>
              </a:rPr>
              <a:t>('</a:t>
            </a:r>
            <a:r>
              <a:rPr lang="en-US" sz="1400" dirty="0" err="1">
                <a:solidFill>
                  <a:schemeClr val="tx2"/>
                </a:solidFill>
              </a:rPr>
              <a:t>CLIENT_ABT_work</a:t>
            </a:r>
            <a:r>
              <a:rPr lang="en-US" sz="1400" dirty="0">
                <a:solidFill>
                  <a:schemeClr val="tx2"/>
                </a:solidFill>
              </a:rPr>
              <a:t> KF_MT1_Annually_v02_beta'[</a:t>
            </a:r>
            <a:r>
              <a:rPr lang="en-US" sz="1400" dirty="0" err="1">
                <a:solidFill>
                  <a:schemeClr val="tx2"/>
                </a:solidFill>
              </a:rPr>
              <a:t>was_cancelled_in_year</a:t>
            </a:r>
            <a:r>
              <a:rPr lang="en-US" sz="1400" dirty="0">
                <a:solidFill>
                  <a:schemeClr val="tx2"/>
                </a:solidFill>
              </a:rPr>
              <a:t>])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305999" y="3293672"/>
            <a:ext cx="8355042" cy="23698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400" b="1" u="sng" dirty="0" err="1">
                <a:solidFill>
                  <a:schemeClr val="tx2"/>
                </a:solidFill>
              </a:rPr>
              <a:t>Churn</a:t>
            </a:r>
            <a:r>
              <a:rPr lang="de-DE" sz="1400" b="1" u="sng" dirty="0">
                <a:solidFill>
                  <a:schemeClr val="tx2"/>
                </a:solidFill>
              </a:rPr>
              <a:t> Ratio Delta zwischen 2017 und 2018:</a:t>
            </a:r>
            <a:endParaRPr lang="en-US" sz="1400" u="sng" dirty="0" err="1">
              <a:solidFill>
                <a:schemeClr val="tx2"/>
              </a:solidFill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305999" y="3586668"/>
            <a:ext cx="8531316" cy="947952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tx2"/>
                </a:solidFill>
              </a:rPr>
              <a:t>Delta = </a:t>
            </a:r>
            <a:r>
              <a:rPr lang="en-US" sz="1400" dirty="0">
                <a:solidFill>
                  <a:schemeClr val="accent5"/>
                </a:solidFill>
              </a:rPr>
              <a:t>CALCULATE</a:t>
            </a:r>
            <a:r>
              <a:rPr lang="en-US" sz="1400" dirty="0">
                <a:solidFill>
                  <a:schemeClr val="tx2"/>
                </a:solidFill>
              </a:rPr>
              <a:t>([</a:t>
            </a:r>
            <a:r>
              <a:rPr lang="en-US" sz="1400" dirty="0">
                <a:solidFill>
                  <a:schemeClr val="accent6"/>
                </a:solidFill>
              </a:rPr>
              <a:t>Churn Ratio</a:t>
            </a:r>
            <a:r>
              <a:rPr lang="en-US" sz="1400" dirty="0">
                <a:solidFill>
                  <a:schemeClr val="tx2"/>
                </a:solidFill>
              </a:rPr>
              <a:t>];</a:t>
            </a:r>
            <a:r>
              <a:rPr lang="en-US" sz="1400" dirty="0">
                <a:solidFill>
                  <a:schemeClr val="accent5"/>
                </a:solidFill>
              </a:rPr>
              <a:t>FILTER</a:t>
            </a:r>
            <a:r>
              <a:rPr lang="en-US" sz="1400" dirty="0">
                <a:solidFill>
                  <a:schemeClr val="tx2"/>
                </a:solidFill>
              </a:rPr>
              <a:t>('</a:t>
            </a:r>
            <a:r>
              <a:rPr lang="en-US" sz="1400" dirty="0" err="1">
                <a:solidFill>
                  <a:schemeClr val="tx2"/>
                </a:solidFill>
              </a:rPr>
              <a:t>CLIENT_ABT_work</a:t>
            </a:r>
            <a:r>
              <a:rPr lang="en-US" sz="1400" dirty="0">
                <a:solidFill>
                  <a:schemeClr val="tx2"/>
                </a:solidFill>
              </a:rPr>
              <a:t> KF_MT1_Annually_v02_beta'; '</a:t>
            </a:r>
            <a:r>
              <a:rPr lang="en-US" sz="1400" dirty="0" err="1">
                <a:solidFill>
                  <a:schemeClr val="tx2"/>
                </a:solidFill>
              </a:rPr>
              <a:t>CLIENT_ABT_work</a:t>
            </a:r>
            <a:r>
              <a:rPr lang="en-US" sz="1400" dirty="0">
                <a:solidFill>
                  <a:schemeClr val="tx2"/>
                </a:solidFill>
              </a:rPr>
              <a:t> KF_MT1_Annually_v02_beta'[Year] = 2018)) – </a:t>
            </a: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accent5"/>
                </a:solidFill>
              </a:rPr>
              <a:t>CALCULATE</a:t>
            </a:r>
            <a:r>
              <a:rPr lang="en-US" sz="1400" dirty="0">
                <a:solidFill>
                  <a:schemeClr val="tx2"/>
                </a:solidFill>
              </a:rPr>
              <a:t>([</a:t>
            </a:r>
            <a:r>
              <a:rPr lang="en-US" sz="1400" dirty="0">
                <a:solidFill>
                  <a:schemeClr val="accent6"/>
                </a:solidFill>
              </a:rPr>
              <a:t>Churn Ratio</a:t>
            </a:r>
            <a:r>
              <a:rPr lang="en-US" sz="1400" dirty="0">
                <a:solidFill>
                  <a:schemeClr val="tx2"/>
                </a:solidFill>
              </a:rPr>
              <a:t>]; </a:t>
            </a:r>
            <a:r>
              <a:rPr lang="en-US" sz="1400" dirty="0">
                <a:solidFill>
                  <a:schemeClr val="accent5"/>
                </a:solidFill>
              </a:rPr>
              <a:t>FILTER</a:t>
            </a:r>
            <a:r>
              <a:rPr lang="en-US" sz="1400" dirty="0">
                <a:solidFill>
                  <a:schemeClr val="tx2"/>
                </a:solidFill>
              </a:rPr>
              <a:t>('</a:t>
            </a:r>
            <a:r>
              <a:rPr lang="en-US" sz="1400" dirty="0" err="1">
                <a:solidFill>
                  <a:schemeClr val="tx2"/>
                </a:solidFill>
              </a:rPr>
              <a:t>CLIENT_ABT_work</a:t>
            </a:r>
            <a:r>
              <a:rPr lang="en-US" sz="1400" dirty="0">
                <a:solidFill>
                  <a:schemeClr val="tx2"/>
                </a:solidFill>
              </a:rPr>
              <a:t> KF_MT1_Annually_v02_beta';'CLIENT_ABT_work KF_MT1_Annually_v02_beta'[Year] = 2017))</a:t>
            </a:r>
          </a:p>
        </p:txBody>
      </p:sp>
    </p:spTree>
    <p:extLst>
      <p:ext uri="{BB962C8B-B14F-4D97-AF65-F5344CB8AC3E}">
        <p14:creationId xmlns:p14="http://schemas.microsoft.com/office/powerpoint/2010/main" val="353559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Erstellung</a:t>
            </a:r>
            <a:r>
              <a:rPr lang="en-GB" dirty="0"/>
              <a:t> von Thresholds </a:t>
            </a:r>
            <a:r>
              <a:rPr lang="en-GB" dirty="0" err="1"/>
              <a:t>für</a:t>
            </a:r>
            <a:r>
              <a:rPr lang="en-GB" dirty="0"/>
              <a:t> Measures 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DD15-A02F-49EB-BB25-B8FFF7A7CAAE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2" name="Textfeld 1"/>
          <p:cNvSpPr txBox="1"/>
          <p:nvPr/>
        </p:nvSpPr>
        <p:spPr>
          <a:xfrm>
            <a:off x="299561" y="1703961"/>
            <a:ext cx="7991341" cy="74481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notwendig: Erstellung und Zugriff auf Tabellen, die die unterschiedlichen Werte für die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Thresholds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enthalten; hier im Beispiel: eine Tabelle (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ChurnRatio_FilterValues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), die verschiedene Werte für die </a:t>
            </a:r>
            <a:r>
              <a:rPr lang="de-DE" sz="1100" b="1" dirty="0" err="1">
                <a:solidFill>
                  <a:schemeClr val="tx2"/>
                </a:solidFill>
                <a:sym typeface="Wingdings" panose="05000000000000000000" pitchFamily="2" charset="2"/>
              </a:rPr>
              <a:t>Churn</a:t>
            </a:r>
            <a:r>
              <a:rPr lang="de-DE" sz="1100" b="1" dirty="0">
                <a:solidFill>
                  <a:schemeClr val="tx2"/>
                </a:solidFill>
                <a:sym typeface="Wingdings" panose="05000000000000000000" pitchFamily="2" charset="2"/>
              </a:rPr>
              <a:t> Ratio 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enthält und eine Tabelle (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CountPolicies_FilterValues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), die verschiedene Werte für </a:t>
            </a:r>
            <a:r>
              <a:rPr lang="de-DE" sz="1100" b="1" dirty="0">
                <a:solidFill>
                  <a:schemeClr val="tx2"/>
                </a:solidFill>
                <a:sym typeface="Wingdings" panose="05000000000000000000" pitchFamily="2" charset="2"/>
              </a:rPr>
              <a:t>#</a:t>
            </a:r>
            <a:r>
              <a:rPr lang="de-DE" sz="1100" b="1" dirty="0" err="1">
                <a:solidFill>
                  <a:schemeClr val="tx2"/>
                </a:solidFill>
                <a:sym typeface="Wingdings" panose="05000000000000000000" pitchFamily="2" charset="2"/>
              </a:rPr>
              <a:t>Policies</a:t>
            </a:r>
            <a:r>
              <a:rPr lang="de-DE" sz="1100" b="1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enthält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Diese Tabellen werden als Input für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Slicer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verwendet, mit denen man die entsprechende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Threshold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auswählen kann</a:t>
            </a:r>
            <a:endParaRPr lang="en-US" sz="1100" dirty="0" err="1">
              <a:solidFill>
                <a:schemeClr val="tx2"/>
              </a:solidFill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299561" y="1130158"/>
            <a:ext cx="8355042" cy="473976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400" u="sng" dirty="0">
                <a:solidFill>
                  <a:schemeClr val="tx2"/>
                </a:solidFill>
              </a:rPr>
              <a:t>Beispiel</a:t>
            </a:r>
            <a:r>
              <a:rPr lang="de-DE" sz="1400" dirty="0">
                <a:solidFill>
                  <a:schemeClr val="tx2"/>
                </a:solidFill>
              </a:rPr>
              <a:t>: Darstellung der </a:t>
            </a:r>
            <a:r>
              <a:rPr lang="de-DE" sz="1400" dirty="0" err="1">
                <a:solidFill>
                  <a:schemeClr val="tx2"/>
                </a:solidFill>
              </a:rPr>
              <a:t>Churn</a:t>
            </a:r>
            <a:r>
              <a:rPr lang="de-DE" sz="1400" dirty="0">
                <a:solidFill>
                  <a:schemeClr val="tx2"/>
                </a:solidFill>
              </a:rPr>
              <a:t> Ratio derjenigen </a:t>
            </a:r>
            <a:r>
              <a:rPr lang="de-DE" sz="1400" dirty="0" err="1">
                <a:solidFill>
                  <a:schemeClr val="tx2"/>
                </a:solidFill>
              </a:rPr>
              <a:t>Product</a:t>
            </a:r>
            <a:r>
              <a:rPr lang="de-DE" sz="1400" dirty="0">
                <a:solidFill>
                  <a:schemeClr val="tx2"/>
                </a:solidFill>
              </a:rPr>
              <a:t> Lines, deren </a:t>
            </a:r>
            <a:r>
              <a:rPr lang="de-DE" sz="1400" b="1" dirty="0" err="1">
                <a:solidFill>
                  <a:schemeClr val="tx2"/>
                </a:solidFill>
              </a:rPr>
              <a:t>Churn</a:t>
            </a:r>
            <a:r>
              <a:rPr lang="de-DE" sz="1400" b="1" dirty="0">
                <a:solidFill>
                  <a:schemeClr val="tx2"/>
                </a:solidFill>
              </a:rPr>
              <a:t> Ratio </a:t>
            </a:r>
            <a:r>
              <a:rPr lang="de-DE" sz="1400" dirty="0">
                <a:solidFill>
                  <a:schemeClr val="tx2"/>
                </a:solidFill>
              </a:rPr>
              <a:t>und deren </a:t>
            </a:r>
            <a:r>
              <a:rPr lang="de-DE" sz="1400" b="1" dirty="0">
                <a:solidFill>
                  <a:schemeClr val="tx2"/>
                </a:solidFill>
              </a:rPr>
              <a:t>#</a:t>
            </a:r>
            <a:r>
              <a:rPr lang="de-DE" sz="1400" b="1" dirty="0" err="1">
                <a:solidFill>
                  <a:schemeClr val="tx2"/>
                </a:solidFill>
              </a:rPr>
              <a:t>Policies</a:t>
            </a:r>
            <a:r>
              <a:rPr lang="de-DE" sz="1400" b="1" dirty="0">
                <a:solidFill>
                  <a:schemeClr val="tx2"/>
                </a:solidFill>
              </a:rPr>
              <a:t> </a:t>
            </a:r>
            <a:r>
              <a:rPr lang="de-DE" sz="1400" dirty="0">
                <a:solidFill>
                  <a:schemeClr val="tx2"/>
                </a:solidFill>
              </a:rPr>
              <a:t>über bestimmten </a:t>
            </a:r>
            <a:r>
              <a:rPr lang="de-DE" sz="1400" dirty="0" err="1">
                <a:solidFill>
                  <a:schemeClr val="tx2"/>
                </a:solidFill>
              </a:rPr>
              <a:t>Thresholds</a:t>
            </a:r>
            <a:r>
              <a:rPr lang="de-DE" sz="1400" dirty="0">
                <a:solidFill>
                  <a:schemeClr val="tx2"/>
                </a:solidFill>
              </a:rPr>
              <a:t> liegen </a:t>
            </a:r>
            <a:endParaRPr lang="en-US" sz="1400" dirty="0" err="1">
              <a:solidFill>
                <a:schemeClr val="tx2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307214" y="3104489"/>
            <a:ext cx="7338941" cy="406265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2"/>
                </a:solidFill>
              </a:rPr>
              <a:t>churn count = </a:t>
            </a:r>
            <a:r>
              <a:rPr lang="en-US" sz="1200" dirty="0">
                <a:solidFill>
                  <a:schemeClr val="accent5"/>
                </a:solidFill>
              </a:rPr>
              <a:t>IF</a:t>
            </a:r>
            <a:r>
              <a:rPr lang="en-US" sz="1200" dirty="0">
                <a:solidFill>
                  <a:schemeClr val="tx2"/>
                </a:solidFill>
              </a:rPr>
              <a:t>(</a:t>
            </a:r>
            <a:r>
              <a:rPr lang="en-US" sz="1200" dirty="0">
                <a:solidFill>
                  <a:schemeClr val="accent5"/>
                </a:solidFill>
              </a:rPr>
              <a:t>AND</a:t>
            </a:r>
            <a:r>
              <a:rPr lang="en-US" sz="1200" dirty="0">
                <a:solidFill>
                  <a:schemeClr val="tx2"/>
                </a:solidFill>
              </a:rPr>
              <a:t>([</a:t>
            </a:r>
            <a:r>
              <a:rPr lang="en-US" sz="1200" dirty="0">
                <a:solidFill>
                  <a:schemeClr val="accent6"/>
                </a:solidFill>
              </a:rPr>
              <a:t>Churn Ratio</a:t>
            </a:r>
            <a:r>
              <a:rPr lang="en-US" sz="1200" dirty="0">
                <a:solidFill>
                  <a:schemeClr val="tx2"/>
                </a:solidFill>
              </a:rPr>
              <a:t>] &gt; </a:t>
            </a:r>
            <a:r>
              <a:rPr lang="en-US" sz="1200" dirty="0">
                <a:solidFill>
                  <a:schemeClr val="accent5"/>
                </a:solidFill>
              </a:rPr>
              <a:t>MAX</a:t>
            </a:r>
            <a:r>
              <a:rPr lang="en-US" sz="1200" dirty="0">
                <a:solidFill>
                  <a:schemeClr val="tx2"/>
                </a:solidFill>
              </a:rPr>
              <a:t>('</a:t>
            </a:r>
            <a:r>
              <a:rPr lang="en-US" sz="1200" dirty="0" err="1">
                <a:solidFill>
                  <a:schemeClr val="tx2"/>
                </a:solidFill>
              </a:rPr>
              <a:t>CLIENT_ABT_work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KF_ChurnRatio_FilterValues</a:t>
            </a:r>
            <a:r>
              <a:rPr lang="en-US" sz="1200" dirty="0">
                <a:solidFill>
                  <a:schemeClr val="tx2"/>
                </a:solidFill>
              </a:rPr>
              <a:t>'[Parameter]); 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2"/>
                </a:solidFill>
              </a:rPr>
              <a:t>[</a:t>
            </a:r>
            <a:r>
              <a:rPr lang="en-US" sz="1200" dirty="0">
                <a:solidFill>
                  <a:schemeClr val="accent6"/>
                </a:solidFill>
              </a:rPr>
              <a:t>#Policies</a:t>
            </a:r>
            <a:r>
              <a:rPr lang="en-US" sz="1200" dirty="0">
                <a:solidFill>
                  <a:schemeClr val="tx2"/>
                </a:solidFill>
              </a:rPr>
              <a:t>] &gt; </a:t>
            </a:r>
            <a:r>
              <a:rPr lang="en-US" sz="1200" dirty="0">
                <a:solidFill>
                  <a:schemeClr val="accent5"/>
                </a:solidFill>
              </a:rPr>
              <a:t>MAX</a:t>
            </a:r>
            <a:r>
              <a:rPr lang="en-US" sz="1200" dirty="0">
                <a:solidFill>
                  <a:schemeClr val="tx2"/>
                </a:solidFill>
              </a:rPr>
              <a:t>('</a:t>
            </a:r>
            <a:r>
              <a:rPr lang="en-US" sz="1200" dirty="0" err="1">
                <a:solidFill>
                  <a:schemeClr val="tx2"/>
                </a:solidFill>
              </a:rPr>
              <a:t>CLIENT_ABT_work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KF_CountPolicies_FilterValues</a:t>
            </a:r>
            <a:r>
              <a:rPr lang="en-US" sz="1200" dirty="0">
                <a:solidFill>
                  <a:schemeClr val="tx2"/>
                </a:solidFill>
              </a:rPr>
              <a:t>'[Parameter]));[</a:t>
            </a:r>
            <a:r>
              <a:rPr lang="en-US" sz="1200" dirty="0">
                <a:solidFill>
                  <a:schemeClr val="accent6"/>
                </a:solidFill>
              </a:rPr>
              <a:t>Churn Ratio</a:t>
            </a:r>
            <a:r>
              <a:rPr lang="en-US" sz="1200" dirty="0">
                <a:solidFill>
                  <a:schemeClr val="tx2"/>
                </a:solidFill>
              </a:rPr>
              <a:t>])</a:t>
            </a:r>
          </a:p>
        </p:txBody>
      </p:sp>
      <p:cxnSp>
        <p:nvCxnSpPr>
          <p:cNvPr id="5" name="Gerade Verbindung mit Pfeil 4"/>
          <p:cNvCxnSpPr/>
          <p:nvPr/>
        </p:nvCxnSpPr>
        <p:spPr>
          <a:xfrm flipH="1" flipV="1">
            <a:off x="6587544" y="3537108"/>
            <a:ext cx="199622" cy="22971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/>
          <p:cNvSpPr txBox="1"/>
          <p:nvPr/>
        </p:nvSpPr>
        <p:spPr>
          <a:xfrm>
            <a:off x="5687315" y="3725944"/>
            <a:ext cx="2833450" cy="32541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000" dirty="0" err="1">
                <a:solidFill>
                  <a:schemeClr val="accent2"/>
                </a:solidFill>
              </a:rPr>
              <a:t>Liegen</a:t>
            </a:r>
            <a:r>
              <a:rPr lang="en-US" sz="1000" dirty="0">
                <a:solidFill>
                  <a:schemeClr val="accent2"/>
                </a:solidFill>
              </a:rPr>
              <a:t> </a:t>
            </a:r>
            <a:r>
              <a:rPr lang="en-US" sz="1000" dirty="0" err="1">
                <a:solidFill>
                  <a:schemeClr val="accent2"/>
                </a:solidFill>
              </a:rPr>
              <a:t>beide</a:t>
            </a:r>
            <a:r>
              <a:rPr lang="en-US" sz="1000" dirty="0">
                <a:solidFill>
                  <a:schemeClr val="accent2"/>
                </a:solidFill>
              </a:rPr>
              <a:t> Measures </a:t>
            </a:r>
            <a:r>
              <a:rPr lang="en-US" sz="1000" dirty="0" err="1">
                <a:solidFill>
                  <a:schemeClr val="accent2"/>
                </a:solidFill>
              </a:rPr>
              <a:t>über</a:t>
            </a:r>
            <a:r>
              <a:rPr lang="en-US" sz="1000" dirty="0">
                <a:solidFill>
                  <a:schemeClr val="accent2"/>
                </a:solidFill>
              </a:rPr>
              <a:t> den Thresholds, </a:t>
            </a:r>
            <a:r>
              <a:rPr lang="en-US" sz="1000" dirty="0" err="1">
                <a:solidFill>
                  <a:schemeClr val="accent2"/>
                </a:solidFill>
              </a:rPr>
              <a:t>wird</a:t>
            </a:r>
            <a:r>
              <a:rPr lang="en-US" sz="1000" dirty="0">
                <a:solidFill>
                  <a:schemeClr val="accent2"/>
                </a:solidFill>
              </a:rPr>
              <a:t> nun die Churn Ratio </a:t>
            </a:r>
            <a:r>
              <a:rPr lang="en-US" sz="1000" dirty="0" err="1">
                <a:solidFill>
                  <a:schemeClr val="accent2"/>
                </a:solidFill>
              </a:rPr>
              <a:t>ausgegeben</a:t>
            </a:r>
            <a:endParaRPr lang="en-US" sz="1000" dirty="0">
              <a:solidFill>
                <a:schemeClr val="accent2"/>
              </a:solidFill>
            </a:endParaRPr>
          </a:p>
        </p:txBody>
      </p:sp>
      <p:cxnSp>
        <p:nvCxnSpPr>
          <p:cNvPr id="12" name="Gerade Verbindung mit Pfeil 11"/>
          <p:cNvCxnSpPr/>
          <p:nvPr/>
        </p:nvCxnSpPr>
        <p:spPr>
          <a:xfrm flipH="1">
            <a:off x="3173299" y="2872047"/>
            <a:ext cx="160986" cy="21250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/>
          <p:cNvSpPr txBox="1"/>
          <p:nvPr/>
        </p:nvSpPr>
        <p:spPr>
          <a:xfrm>
            <a:off x="3334285" y="2688942"/>
            <a:ext cx="3769755" cy="32541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000" dirty="0">
                <a:solidFill>
                  <a:schemeClr val="accent2"/>
                </a:solidFill>
              </a:rPr>
              <a:t>Um eine einzelne Zahl (nämlich die aktuell im </a:t>
            </a:r>
            <a:r>
              <a:rPr lang="de-DE" sz="1000" dirty="0" err="1">
                <a:solidFill>
                  <a:schemeClr val="accent2"/>
                </a:solidFill>
              </a:rPr>
              <a:t>Slicer</a:t>
            </a:r>
            <a:r>
              <a:rPr lang="de-DE" sz="1000" dirty="0">
                <a:solidFill>
                  <a:schemeClr val="accent2"/>
                </a:solidFill>
              </a:rPr>
              <a:t> ausgewählte) als </a:t>
            </a:r>
            <a:r>
              <a:rPr lang="de-DE" sz="1000" dirty="0" err="1">
                <a:solidFill>
                  <a:schemeClr val="accent2"/>
                </a:solidFill>
              </a:rPr>
              <a:t>Threshold</a:t>
            </a:r>
            <a:r>
              <a:rPr lang="de-DE" sz="1000" dirty="0">
                <a:solidFill>
                  <a:schemeClr val="accent2"/>
                </a:solidFill>
              </a:rPr>
              <a:t> zu verwenden, benötigen wir hier „MAX“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299561" y="4198180"/>
            <a:ext cx="5349971" cy="37241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Nun können wir das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Measure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churn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count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gegen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Product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Line in einem Chart darstellen und können dabei auf Basis der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Threshold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Slicer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selektieren</a:t>
            </a:r>
            <a:endParaRPr lang="en-US" sz="110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36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Erstellung</a:t>
            </a:r>
            <a:r>
              <a:rPr lang="en-GB" dirty="0"/>
              <a:t>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Drillthrough</a:t>
            </a:r>
            <a:r>
              <a:rPr lang="en-GB" dirty="0"/>
              <a:t> </a:t>
            </a:r>
            <a:r>
              <a:rPr lang="en-GB" dirty="0" err="1"/>
              <a:t>Seite</a:t>
            </a:r>
            <a:endParaRPr lang="en-GB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DD15-A02F-49EB-BB25-B8FFF7A7CAAE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2" name="Textfeld 1"/>
          <p:cNvSpPr txBox="1"/>
          <p:nvPr/>
        </p:nvSpPr>
        <p:spPr>
          <a:xfrm>
            <a:off x="299561" y="1924182"/>
            <a:ext cx="7991341" cy="111722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Erstellung einer neuen Seite im Report; diese Seite wird später detaillierte Infos zu unserem gewünschten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Postal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District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liefern.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Dazu ziehen wir das Feld, in das später gerne zoomen wollen (hier also „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Postal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District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“) in die Box und dem Bereich „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Drillthrough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“ am rechten Rand der Seite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Alle Charts, die wir nun auf dieser Seite erzeugen, werden sich später ausschließlich auf den ausgewählten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Postal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District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beziehen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299561" y="1130158"/>
            <a:ext cx="8355042" cy="71096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400" u="sng" dirty="0">
                <a:solidFill>
                  <a:schemeClr val="tx2"/>
                </a:solidFill>
              </a:rPr>
              <a:t>Beispiel</a:t>
            </a:r>
            <a:r>
              <a:rPr lang="de-DE" sz="1400" dirty="0">
                <a:solidFill>
                  <a:schemeClr val="tx2"/>
                </a:solidFill>
              </a:rPr>
              <a:t>: Wir haben eine Karte, die </a:t>
            </a:r>
            <a:r>
              <a:rPr lang="de-DE" sz="1400" dirty="0" err="1">
                <a:solidFill>
                  <a:schemeClr val="tx2"/>
                </a:solidFill>
              </a:rPr>
              <a:t>Postal</a:t>
            </a:r>
            <a:r>
              <a:rPr lang="de-DE" sz="1400" dirty="0">
                <a:solidFill>
                  <a:schemeClr val="tx2"/>
                </a:solidFill>
              </a:rPr>
              <a:t> </a:t>
            </a:r>
            <a:r>
              <a:rPr lang="de-DE" sz="1400" dirty="0" err="1">
                <a:solidFill>
                  <a:schemeClr val="tx2"/>
                </a:solidFill>
              </a:rPr>
              <a:t>Districts</a:t>
            </a:r>
            <a:r>
              <a:rPr lang="de-DE" sz="1400" dirty="0">
                <a:solidFill>
                  <a:schemeClr val="tx2"/>
                </a:solidFill>
              </a:rPr>
              <a:t> in einer Karte darstellt. Nun würden wir gerne auf einen bestimmten </a:t>
            </a:r>
            <a:r>
              <a:rPr lang="de-DE" sz="1400" dirty="0" err="1">
                <a:solidFill>
                  <a:schemeClr val="tx2"/>
                </a:solidFill>
              </a:rPr>
              <a:t>Postal</a:t>
            </a:r>
            <a:r>
              <a:rPr lang="de-DE" sz="1400" dirty="0">
                <a:solidFill>
                  <a:schemeClr val="tx2"/>
                </a:solidFill>
              </a:rPr>
              <a:t> </a:t>
            </a:r>
            <a:r>
              <a:rPr lang="de-DE" sz="1400" dirty="0" err="1">
                <a:solidFill>
                  <a:schemeClr val="tx2"/>
                </a:solidFill>
              </a:rPr>
              <a:t>District</a:t>
            </a:r>
            <a:r>
              <a:rPr lang="de-DE" sz="1400" dirty="0">
                <a:solidFill>
                  <a:schemeClr val="tx2"/>
                </a:solidFill>
              </a:rPr>
              <a:t> klicken, um ein neues Dashboard mit detaillierten Infos zu diesem </a:t>
            </a:r>
            <a:r>
              <a:rPr lang="de-DE" sz="1400" dirty="0" err="1">
                <a:solidFill>
                  <a:schemeClr val="tx2"/>
                </a:solidFill>
              </a:rPr>
              <a:t>Postal</a:t>
            </a:r>
            <a:r>
              <a:rPr lang="de-DE" sz="1400" dirty="0">
                <a:solidFill>
                  <a:schemeClr val="tx2"/>
                </a:solidFill>
              </a:rPr>
              <a:t> </a:t>
            </a:r>
            <a:r>
              <a:rPr lang="de-DE" sz="1400" dirty="0" err="1">
                <a:solidFill>
                  <a:schemeClr val="tx2"/>
                </a:solidFill>
              </a:rPr>
              <a:t>District</a:t>
            </a:r>
            <a:r>
              <a:rPr lang="de-DE" sz="1400" dirty="0">
                <a:solidFill>
                  <a:schemeClr val="tx2"/>
                </a:solidFill>
              </a:rPr>
              <a:t> zu erhalten </a:t>
            </a:r>
            <a:r>
              <a:rPr lang="de-DE" sz="1400" dirty="0">
                <a:solidFill>
                  <a:schemeClr val="tx2"/>
                </a:solidFill>
                <a:sym typeface="Wingdings" panose="05000000000000000000" pitchFamily="2" charset="2"/>
              </a:rPr>
              <a:t> Lösung: </a:t>
            </a:r>
            <a:r>
              <a:rPr lang="de-DE" sz="1400" b="1" dirty="0" err="1">
                <a:solidFill>
                  <a:schemeClr val="tx2"/>
                </a:solidFill>
                <a:sym typeface="Wingdings" panose="05000000000000000000" pitchFamily="2" charset="2"/>
              </a:rPr>
              <a:t>Drillthrough</a:t>
            </a:r>
            <a:endParaRPr lang="de-DE" sz="1400" b="1" dirty="0">
              <a:solidFill>
                <a:schemeClr val="tx2"/>
              </a:solidFill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00" y="3124471"/>
            <a:ext cx="1708528" cy="1041453"/>
          </a:xfrm>
          <a:prstGeom prst="rect">
            <a:avLst/>
          </a:prstGeom>
        </p:spPr>
      </p:pic>
      <p:sp>
        <p:nvSpPr>
          <p:cNvPr id="15" name="Textfeld 14"/>
          <p:cNvSpPr txBox="1"/>
          <p:nvPr/>
        </p:nvSpPr>
        <p:spPr>
          <a:xfrm>
            <a:off x="306000" y="4248984"/>
            <a:ext cx="7991341" cy="55861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Nun können wir in unserer ursprünglichen Seite per Rechtsklick auf den gewünschten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Postal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District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und unter „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Drillthrough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“ den Namen unserer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Drillthrough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Seite (hier ebenfalls „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Drillthrough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“) anklicken und erreichen eine neue Seite mit detaillierten Infos zu unserem gewünschten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Postal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District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031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Aufgetretene</a:t>
            </a:r>
            <a:r>
              <a:rPr lang="en-GB" dirty="0"/>
              <a:t> </a:t>
            </a:r>
            <a:r>
              <a:rPr lang="en-GB" dirty="0" err="1"/>
              <a:t>Probleme</a:t>
            </a:r>
            <a:r>
              <a:rPr lang="en-GB" dirty="0"/>
              <a:t> und </a:t>
            </a:r>
            <a:r>
              <a:rPr lang="en-GB" dirty="0" err="1"/>
              <a:t>Lösung</a:t>
            </a:r>
            <a:endParaRPr lang="en-GB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DD15-A02F-49EB-BB25-B8FFF7A7CAAE}" type="datetime4">
              <a:rPr lang="en-GB" smtClean="0"/>
              <a:t>25 March 2019</a:t>
            </a:fld>
            <a:endParaRPr lang="en-GB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Elements</a:t>
            </a:r>
            <a:endParaRPr lang="en-GB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2" name="Textfeld 1"/>
          <p:cNvSpPr txBox="1"/>
          <p:nvPr/>
        </p:nvSpPr>
        <p:spPr>
          <a:xfrm>
            <a:off x="248045" y="2208996"/>
            <a:ext cx="7991341" cy="55861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Ansatz:  #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Policies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= </a:t>
            </a:r>
            <a:r>
              <a:rPr lang="de-DE" sz="1100" dirty="0">
                <a:solidFill>
                  <a:schemeClr val="accent5"/>
                </a:solidFill>
                <a:sym typeface="Wingdings" panose="05000000000000000000" pitchFamily="2" charset="2"/>
              </a:rPr>
              <a:t>COUNT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(</a:t>
            </a:r>
            <a:r>
              <a:rPr lang="de-DE" sz="1100" dirty="0">
                <a:solidFill>
                  <a:schemeClr val="accent5"/>
                </a:solidFill>
                <a:sym typeface="Wingdings" panose="05000000000000000000" pitchFamily="2" charset="2"/>
              </a:rPr>
              <a:t>GROUPBY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(…</a:t>
            </a:r>
          </a:p>
          <a:p>
            <a:pPr>
              <a:lnSpc>
                <a:spcPct val="110000"/>
              </a:lnSpc>
            </a:pP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ABER: Falls die Anzahl der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Policies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(bzw. der verschiedenen Werte von (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PolicyLine_ID,year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)) größer als 1 Mio. ist, funktioniert das GROUPBY Statement nicht mehr, da die Maximalgröße von Tabellen, die Power BI ausgeben kann, 1 Mio. Zeilen beträgt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299561" y="1130158"/>
            <a:ext cx="8355042" cy="71096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400" b="1" dirty="0">
                <a:solidFill>
                  <a:schemeClr val="tx2"/>
                </a:solidFill>
              </a:rPr>
              <a:t>Problem:</a:t>
            </a:r>
            <a:r>
              <a:rPr lang="de-DE" sz="1400" dirty="0">
                <a:solidFill>
                  <a:schemeClr val="tx2"/>
                </a:solidFill>
              </a:rPr>
              <a:t> Berechnung des </a:t>
            </a:r>
            <a:r>
              <a:rPr lang="de-DE" sz="1400" dirty="0" err="1">
                <a:solidFill>
                  <a:schemeClr val="tx2"/>
                </a:solidFill>
              </a:rPr>
              <a:t>Measures</a:t>
            </a:r>
            <a:r>
              <a:rPr lang="de-DE" sz="1400" dirty="0">
                <a:solidFill>
                  <a:schemeClr val="tx2"/>
                </a:solidFill>
              </a:rPr>
              <a:t> #</a:t>
            </a:r>
            <a:r>
              <a:rPr lang="de-DE" sz="1400" dirty="0" err="1">
                <a:solidFill>
                  <a:schemeClr val="tx2"/>
                </a:solidFill>
              </a:rPr>
              <a:t>Policies</a:t>
            </a:r>
            <a:r>
              <a:rPr lang="de-DE" sz="1400" dirty="0">
                <a:solidFill>
                  <a:schemeClr val="tx2"/>
                </a:solidFill>
              </a:rPr>
              <a:t> bei einer Tabelle auf </a:t>
            </a:r>
            <a:r>
              <a:rPr lang="de-DE" sz="1400" dirty="0" err="1">
                <a:solidFill>
                  <a:schemeClr val="tx2"/>
                </a:solidFill>
              </a:rPr>
              <a:t>monthly</a:t>
            </a:r>
            <a:r>
              <a:rPr lang="de-DE" sz="1400" dirty="0">
                <a:solidFill>
                  <a:schemeClr val="tx2"/>
                </a:solidFill>
              </a:rPr>
              <a:t> Basis; hier ist #</a:t>
            </a:r>
            <a:r>
              <a:rPr lang="de-DE" sz="1400" dirty="0" err="1">
                <a:solidFill>
                  <a:schemeClr val="tx2"/>
                </a:solidFill>
              </a:rPr>
              <a:t>Policies</a:t>
            </a:r>
            <a:r>
              <a:rPr lang="de-DE" sz="1400" dirty="0">
                <a:solidFill>
                  <a:schemeClr val="tx2"/>
                </a:solidFill>
              </a:rPr>
              <a:t> nicht einfach die Anzahl der Zeilen, sondern die Anzahl der verschiedenen Ausprägungen des Schlüssels (</a:t>
            </a:r>
            <a:r>
              <a:rPr lang="de-DE" sz="1400" dirty="0" err="1">
                <a:solidFill>
                  <a:schemeClr val="tx2"/>
                </a:solidFill>
              </a:rPr>
              <a:t>PolicyLine_ID</a:t>
            </a:r>
            <a:r>
              <a:rPr lang="de-DE" sz="1400" dirty="0">
                <a:solidFill>
                  <a:schemeClr val="tx2"/>
                </a:solidFill>
              </a:rPr>
              <a:t>, </a:t>
            </a:r>
            <a:r>
              <a:rPr lang="de-DE" sz="1400" dirty="0" err="1">
                <a:solidFill>
                  <a:schemeClr val="tx2"/>
                </a:solidFill>
              </a:rPr>
              <a:t>year</a:t>
            </a:r>
            <a:r>
              <a:rPr lang="de-DE" sz="1400" dirty="0">
                <a:solidFill>
                  <a:schemeClr val="tx2"/>
                </a:solidFill>
              </a:rPr>
              <a:t>)</a:t>
            </a:r>
            <a:endParaRPr lang="de-DE" sz="1400" b="1" dirty="0">
              <a:solidFill>
                <a:schemeClr val="tx2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48044" y="2993884"/>
            <a:ext cx="7991341" cy="37241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Lösung: Wir erstellen eine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Calculated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Column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, die die Spalten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PolicyLine_ID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und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year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als String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konkateniert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und führen über dieser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Calculated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Column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einen DISTINCTCOUNT aus: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248044" y="3459395"/>
            <a:ext cx="7991341" cy="186205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ConCat</a:t>
            </a:r>
            <a:r>
              <a:rPr lang="en-US" sz="1100" dirty="0">
                <a:solidFill>
                  <a:schemeClr val="tx2"/>
                </a:solidFill>
                <a:sym typeface="Wingdings" panose="05000000000000000000" pitchFamily="2" charset="2"/>
              </a:rPr>
              <a:t> = </a:t>
            </a:r>
            <a:r>
              <a:rPr lang="en-US" sz="1100" dirty="0">
                <a:solidFill>
                  <a:schemeClr val="accent5"/>
                </a:solidFill>
                <a:sym typeface="Wingdings" panose="05000000000000000000" pitchFamily="2" charset="2"/>
              </a:rPr>
              <a:t>CONCATENATE</a:t>
            </a:r>
            <a:r>
              <a:rPr lang="en-US" sz="1100" dirty="0">
                <a:solidFill>
                  <a:schemeClr val="tx2"/>
                </a:solidFill>
                <a:sym typeface="Wingdings" panose="05000000000000000000" pitchFamily="2" charset="2"/>
              </a:rPr>
              <a:t>('</a:t>
            </a:r>
            <a:r>
              <a:rPr lang="en-US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CLIENT_ABT_work</a:t>
            </a:r>
            <a:r>
              <a:rPr lang="en-US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KF_PowerBI</a:t>
            </a:r>
            <a:r>
              <a:rPr lang="en-US" sz="1100" dirty="0">
                <a:solidFill>
                  <a:schemeClr val="tx2"/>
                </a:solidFill>
                <a:sym typeface="Wingdings" panose="05000000000000000000" pitchFamily="2" charset="2"/>
              </a:rPr>
              <a:t>'[</a:t>
            </a:r>
            <a:r>
              <a:rPr lang="en-US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PolicyLineID</a:t>
            </a:r>
            <a:r>
              <a:rPr lang="en-US" sz="1100" dirty="0">
                <a:solidFill>
                  <a:schemeClr val="tx2"/>
                </a:solidFill>
                <a:sym typeface="Wingdings" panose="05000000000000000000" pitchFamily="2" charset="2"/>
              </a:rPr>
              <a:t>];'</a:t>
            </a:r>
            <a:r>
              <a:rPr lang="en-US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CLIENT_ABT_work</a:t>
            </a:r>
            <a:r>
              <a:rPr lang="en-US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KF_PowerBI</a:t>
            </a:r>
            <a:r>
              <a:rPr lang="en-US" sz="1100" dirty="0">
                <a:solidFill>
                  <a:schemeClr val="tx2"/>
                </a:solidFill>
                <a:sym typeface="Wingdings" panose="05000000000000000000" pitchFamily="2" charset="2"/>
              </a:rPr>
              <a:t>'[year])</a:t>
            </a:r>
            <a:endParaRPr lang="de-DE" sz="1100" dirty="0">
              <a:solidFill>
                <a:schemeClr val="tx2"/>
              </a:solidFill>
              <a:sym typeface="Wingdings" panose="05000000000000000000" pitchFamily="2" charset="2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248042" y="4106577"/>
            <a:ext cx="7991341" cy="37241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à"/>
            </a:pP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Der DISTINCTCOUNT hat zwar eine langsame Performance, dafür erstellt Power BI nun keine neue Tabelle, wodurch wir #</a:t>
            </a:r>
            <a:r>
              <a:rPr lang="de-DE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Policies</a:t>
            </a:r>
            <a:r>
              <a:rPr lang="de-DE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1100">
                <a:solidFill>
                  <a:schemeClr val="tx2"/>
                </a:solidFill>
                <a:sym typeface="Wingdings" panose="05000000000000000000" pitchFamily="2" charset="2"/>
              </a:rPr>
              <a:t>berechnen können.  </a:t>
            </a:r>
            <a:endParaRPr lang="de-DE" sz="1100" dirty="0">
              <a:solidFill>
                <a:schemeClr val="tx2"/>
              </a:solidFill>
              <a:sym typeface="Wingdings" panose="05000000000000000000" pitchFamily="2" charset="2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248043" y="3783307"/>
            <a:ext cx="7991341" cy="186205"/>
          </a:xfrm>
          <a:prstGeom prst="rect">
            <a:avLst/>
          </a:prstGeom>
          <a:noFill/>
          <a:ln>
            <a:solidFill>
              <a:schemeClr val="tx2"/>
            </a:solidFill>
          </a:ln>
          <a:effectLst/>
        </p:spPr>
        <p:txBody>
          <a:bodyPr wrap="square" lIns="3600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chemeClr val="tx2"/>
                </a:solidFill>
                <a:sym typeface="Wingdings" panose="05000000000000000000" pitchFamily="2" charset="2"/>
              </a:rPr>
              <a:t>#Policies = </a:t>
            </a:r>
            <a:r>
              <a:rPr lang="en-US" sz="1100" dirty="0">
                <a:solidFill>
                  <a:schemeClr val="accent5"/>
                </a:solidFill>
                <a:sym typeface="Wingdings" panose="05000000000000000000" pitchFamily="2" charset="2"/>
              </a:rPr>
              <a:t>DISTINCTCOUNT</a:t>
            </a:r>
            <a:r>
              <a:rPr lang="en-US" sz="1100" dirty="0">
                <a:solidFill>
                  <a:schemeClr val="tx2"/>
                </a:solidFill>
                <a:sym typeface="Wingdings" panose="05000000000000000000" pitchFamily="2" charset="2"/>
              </a:rPr>
              <a:t>('</a:t>
            </a:r>
            <a:r>
              <a:rPr lang="en-US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CLIENT_ABT_work</a:t>
            </a:r>
            <a:r>
              <a:rPr lang="en-US" sz="1100" dirty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en-US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KF_PowerBI</a:t>
            </a:r>
            <a:r>
              <a:rPr lang="en-US" sz="1100" dirty="0">
                <a:solidFill>
                  <a:schemeClr val="tx2"/>
                </a:solidFill>
                <a:sym typeface="Wingdings" panose="05000000000000000000" pitchFamily="2" charset="2"/>
              </a:rPr>
              <a:t>'[</a:t>
            </a:r>
            <a:r>
              <a:rPr lang="en-US" sz="1100" dirty="0" err="1">
                <a:solidFill>
                  <a:schemeClr val="tx2"/>
                </a:solidFill>
                <a:sym typeface="Wingdings" panose="05000000000000000000" pitchFamily="2" charset="2"/>
              </a:rPr>
              <a:t>ConCat</a:t>
            </a:r>
            <a:r>
              <a:rPr lang="en-US" sz="1100" dirty="0">
                <a:solidFill>
                  <a:schemeClr val="tx2"/>
                </a:solidFill>
                <a:sym typeface="Wingdings" panose="05000000000000000000" pitchFamily="2" charset="2"/>
              </a:rPr>
              <a:t>])</a:t>
            </a:r>
            <a:endParaRPr lang="de-DE" sz="1100" dirty="0">
              <a:solidFill>
                <a:schemeClr val="tx2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3639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R Template_16 to 9_MR_EN">
  <a:themeElements>
    <a:clrScheme name="Munich Re">
      <a:dk1>
        <a:sysClr val="windowText" lastClr="000000"/>
      </a:dk1>
      <a:lt1>
        <a:sysClr val="window" lastClr="FFFFFF"/>
      </a:lt1>
      <a:dk2>
        <a:srgbClr val="4D4E53"/>
      </a:dk2>
      <a:lt2>
        <a:srgbClr val="F7941D"/>
      </a:lt2>
      <a:accent1>
        <a:srgbClr val="34909C"/>
      </a:accent1>
      <a:accent2>
        <a:srgbClr val="8DC63F"/>
      </a:accent2>
      <a:accent3>
        <a:srgbClr val="B72126"/>
      </a:accent3>
      <a:accent4>
        <a:srgbClr val="B2C1CA"/>
      </a:accent4>
      <a:accent5>
        <a:srgbClr val="00589A"/>
      </a:accent5>
      <a:accent6>
        <a:srgbClr val="714A9C"/>
      </a:accent6>
      <a:hlink>
        <a:srgbClr val="0A509E"/>
      </a:hlink>
      <a:folHlink>
        <a:srgbClr val="7993A3"/>
      </a:folHlink>
    </a:clrScheme>
    <a:fontScheme name="Munich Re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noFill/>
        </a:ln>
      </a:spPr>
      <a:bodyPr rtlCol="0" anchor="ctr" anchorCtr="0"/>
      <a:lstStyle>
        <a:defPPr algn="ctr">
          <a:defRPr sz="14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effectLst/>
      </a:spPr>
      <a:bodyPr wrap="square" lIns="0" tIns="0" rIns="0" bIns="0" rtlCol="0">
        <a:spAutoFit/>
      </a:bodyPr>
      <a:lstStyle>
        <a:defPPr marL="269875" indent="-269875">
          <a:lnSpc>
            <a:spcPct val="110000"/>
          </a:lnSpc>
          <a:buFont typeface="Wingdings" panose="05000000000000000000" pitchFamily="2" charset="2"/>
          <a:buChar char="§"/>
          <a:defRPr sz="14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R_Elements_v1.pptx" id="{C472771F-EA99-4102-9C53-055ED28542AE}" vid="{EADA2A9F-3DFC-4337-A541-C3C36090FA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729617-940b-463d-a580-46cc6a3ad9da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f3c6f0c0-389c-4324-ac00-59fc67b57edf" ContentTypeId="0x0101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2EFFCC1F259F4594AF7010A25D2E8D" ma:contentTypeVersion="9" ma:contentTypeDescription="Ein neues Dokument erstellen." ma:contentTypeScope="" ma:versionID="5c120774a2ddd3338e1bc2fc88c1c935">
  <xsd:schema xmlns:xsd="http://www.w3.org/2001/XMLSchema" xmlns:xs="http://www.w3.org/2001/XMLSchema" xmlns:p="http://schemas.microsoft.com/office/2006/metadata/properties" xmlns:ns2="ca729617-940b-463d-a580-46cc6a3ad9da" xmlns:ns3="f25fcc4d-3cf3-4aba-af3f-ed902a6b7987" xmlns:ns4="7d2aa334-0cb7-44d6-91ab-6ae7a7c5b168" targetNamespace="http://schemas.microsoft.com/office/2006/metadata/properties" ma:root="true" ma:fieldsID="03d89afe09866f9dc934a94c702c2b71" ns2:_="" ns3:_="" ns4:_="">
    <xsd:import namespace="ca729617-940b-463d-a580-46cc6a3ad9da"/>
    <xsd:import namespace="f25fcc4d-3cf3-4aba-af3f-ed902a6b7987"/>
    <xsd:import namespace="7d2aa334-0cb7-44d6-91ab-6ae7a7c5b168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729617-940b-463d-a580-46cc6a3ad9da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ccf22782-3e12-4935-9273-f624cd2d1dae}" ma:internalName="TaxCatchAll" ma:showField="CatchAllData" ma:web="7d2aa334-0cb7-44d6-91ab-6ae7a7c5b1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ccf22782-3e12-4935-9273-f624cd2d1dae}" ma:internalName="TaxCatchAllLabel" ma:readOnly="true" ma:showField="CatchAllDataLabel" ma:web="7d2aa334-0cb7-44d6-91ab-6ae7a7c5b1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5fcc4d-3cf3-4aba-af3f-ed902a6b79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2aa334-0cb7-44d6-91ab-6ae7a7c5b16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A9AA8F-AC67-40E6-A728-A95DD544D398}">
  <ds:schemaRefs>
    <ds:schemaRef ds:uri="http://schemas.microsoft.com/office/2006/metadata/properties"/>
    <ds:schemaRef ds:uri="http://schemas.microsoft.com/office/infopath/2007/PartnerControls"/>
    <ds:schemaRef ds:uri="ca729617-940b-463d-a580-46cc6a3ad9da"/>
  </ds:schemaRefs>
</ds:datastoreItem>
</file>

<file path=customXml/itemProps2.xml><?xml version="1.0" encoding="utf-8"?>
<ds:datastoreItem xmlns:ds="http://schemas.openxmlformats.org/officeDocument/2006/customXml" ds:itemID="{A59AB624-E2B0-4BAA-9CA8-A0C9C80342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7323A-16F6-4AC4-8EA5-7FEF50BCF3C5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FB711C67-447F-4170-8761-B36F1E15A0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729617-940b-463d-a580-46cc6a3ad9da"/>
    <ds:schemaRef ds:uri="f25fcc4d-3cf3-4aba-af3f-ed902a6b7987"/>
    <ds:schemaRef ds:uri="7d2aa334-0cb7-44d6-91ab-6ae7a7c5b1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MR_Elements</Template>
  <TotalTime>0</TotalTime>
  <Words>1655</Words>
  <Application>Microsoft Office PowerPoint</Application>
  <PresentationFormat>Bildschirmpräsentation (16:9)</PresentationFormat>
  <Paragraphs>91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Arial Unicode MS</vt:lpstr>
      <vt:lpstr>Arial</vt:lpstr>
      <vt:lpstr>Calibri</vt:lpstr>
      <vt:lpstr>Wingdings</vt:lpstr>
      <vt:lpstr>MR Template_16 to 9_MR_EN</vt:lpstr>
      <vt:lpstr>Overview – Erklärung Teil 1</vt:lpstr>
      <vt:lpstr>Overview – Erklärung Teil 2</vt:lpstr>
      <vt:lpstr>Overview Regions – Erklärung</vt:lpstr>
      <vt:lpstr>Drillthrough Postal District - Erklärung</vt:lpstr>
      <vt:lpstr>Drillthrough Regions- Erklärung</vt:lpstr>
      <vt:lpstr>Drillthrough year - Erklärung</vt:lpstr>
      <vt:lpstr>Erstellung von basic Measures </vt:lpstr>
      <vt:lpstr>Erstellung von Thresholds für Measures </vt:lpstr>
      <vt:lpstr>Erstellung einer Drillthrough Seite</vt:lpstr>
      <vt:lpstr>Aufgetretene Probleme und Lösung</vt:lpstr>
    </vt:vector>
  </TitlesOfParts>
  <Company>Munich Re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Erstellung von Thresholds für Measures</dc:title>
  <dc:subject>Munich Re - MR - Munich-MR - DE-DE - Din A4</dc:subject>
  <dc:creator>Hauner Benedikt - Munich-MR</dc:creator>
  <cp:keywords>Munich-MR;</cp:keywords>
  <cp:lastModifiedBy>Ta Thuy - Munich-MR</cp:lastModifiedBy>
  <cp:revision>28</cp:revision>
  <dcterms:created xsi:type="dcterms:W3CDTF">2019-02-11T15:21:16Z</dcterms:created>
  <dcterms:modified xsi:type="dcterms:W3CDTF">2019-03-25T13:18:42Z</dcterms:modified>
  <cp:category>Din A4</cp:category>
  <cp:contentStatus>MR</cp:contentStatus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0x0101002D2EFFCC1F259F4594AF7010A25D2E8D</vt:lpwstr>
  </property>
</Properties>
</file>